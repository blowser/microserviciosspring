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0" r:id="rId4"/>
    <p:sldId id="324" r:id="rId5"/>
    <p:sldId id="331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23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6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4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4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4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D160-7E9F-4B8C-A177-C5C36EB8DF2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2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2"/>
          <p:cNvGrpSpPr/>
          <p:nvPr/>
        </p:nvGrpSpPr>
        <p:grpSpPr>
          <a:xfrm>
            <a:off x="9090660" y="0"/>
            <a:ext cx="2161984" cy="6858000"/>
            <a:chOff x="0" y="0"/>
            <a:chExt cx="812800" cy="297610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7"/>
          <p:cNvSpPr/>
          <p:nvPr/>
        </p:nvSpPr>
        <p:spPr>
          <a:xfrm>
            <a:off x="1489522" y="0"/>
            <a:ext cx="5636747" cy="1603247"/>
          </a:xfrm>
          <a:custGeom>
            <a:avLst/>
            <a:gdLst/>
            <a:ahLst/>
            <a:cxnLst/>
            <a:rect l="l" t="t" r="r" b="b"/>
            <a:pathLst>
              <a:path w="6851949" h="1948884">
                <a:moveTo>
                  <a:pt x="0" y="0"/>
                </a:moveTo>
                <a:lnTo>
                  <a:pt x="6851949" y="0"/>
                </a:lnTo>
                <a:lnTo>
                  <a:pt x="6851949" y="1948885"/>
                </a:lnTo>
                <a:lnTo>
                  <a:pt x="0" y="1948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8223" b="-7345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6"/>
          <p:cNvSpPr/>
          <p:nvPr/>
        </p:nvSpPr>
        <p:spPr>
          <a:xfrm>
            <a:off x="8173156" y="224790"/>
            <a:ext cx="3579164" cy="5890260"/>
          </a:xfrm>
          <a:custGeom>
            <a:avLst/>
            <a:gdLst/>
            <a:ahLst/>
            <a:cxnLst/>
            <a:rect l="l" t="t" r="r" b="b"/>
            <a:pathLst>
              <a:path w="5482971" h="9023371">
                <a:moveTo>
                  <a:pt x="0" y="0"/>
                </a:moveTo>
                <a:lnTo>
                  <a:pt x="5482971" y="0"/>
                </a:lnTo>
                <a:lnTo>
                  <a:pt x="5482971" y="9023371"/>
                </a:lnTo>
                <a:lnTo>
                  <a:pt x="0" y="902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13" r="-48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7" name="Group 10"/>
          <p:cNvGrpSpPr/>
          <p:nvPr/>
        </p:nvGrpSpPr>
        <p:grpSpPr>
          <a:xfrm>
            <a:off x="1442608" y="2545079"/>
            <a:ext cx="93827" cy="2399371"/>
            <a:chOff x="0" y="0"/>
            <a:chExt cx="26312" cy="672855"/>
          </a:xfrm>
        </p:grpSpPr>
        <p:sp>
          <p:nvSpPr>
            <p:cNvPr id="18" name="Freeform 11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775459" y="292293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>
                <a:solidFill>
                  <a:srgbClr val="0F2B42"/>
                </a:solidFill>
              </a:rPr>
              <a:t>Sesión Sincrónica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950719" y="406505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Semana</a:t>
            </a:r>
            <a:r>
              <a:rPr lang="en-US" sz="6600" b="1" dirty="0" smtClean="0">
                <a:solidFill>
                  <a:srgbClr val="0F2B42"/>
                </a:solidFill>
              </a:rPr>
              <a:t> 4</a:t>
            </a:r>
            <a:endParaRPr lang="en-US" sz="6600" b="1" dirty="0">
              <a:solidFill>
                <a:srgbClr val="0F2B4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5E01895-7A45-CE11-EF16-8D8944724F71}"/>
              </a:ext>
            </a:extLst>
          </p:cNvPr>
          <p:cNvSpPr txBox="1"/>
          <p:nvPr/>
        </p:nvSpPr>
        <p:spPr>
          <a:xfrm>
            <a:off x="1811019" y="5730329"/>
            <a:ext cx="483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Alonso Castillo</a:t>
            </a:r>
          </a:p>
          <a:p>
            <a:r>
              <a:rPr lang="es-ES" sz="2000" dirty="0"/>
              <a:t>Docente Campus Virtual Duoc UC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2823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2070099" y="333150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Contenido</a:t>
            </a:r>
            <a:endParaRPr lang="en-US" sz="6600" b="1" dirty="0">
              <a:solidFill>
                <a:srgbClr val="0F2B42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0C67E4-59E2-78AC-A459-6423EB186E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9304020" y="156152"/>
            <a:ext cx="2604654" cy="872936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1902350" y="2006127"/>
            <a:ext cx="1278348" cy="2086096"/>
            <a:chOff x="0" y="0"/>
            <a:chExt cx="368852" cy="1198943"/>
          </a:xfrm>
        </p:grpSpPr>
        <p:sp>
          <p:nvSpPr>
            <p:cNvPr id="26" name="Freeform 3"/>
            <p:cNvSpPr/>
            <p:nvPr/>
          </p:nvSpPr>
          <p:spPr>
            <a:xfrm>
              <a:off x="0" y="0"/>
              <a:ext cx="368852" cy="1198943"/>
            </a:xfrm>
            <a:custGeom>
              <a:avLst/>
              <a:gdLst/>
              <a:ahLst/>
              <a:cxnLst/>
              <a:rect l="l" t="t" r="r" b="b"/>
              <a:pathLst>
                <a:path w="368852" h="1198943">
                  <a:moveTo>
                    <a:pt x="0" y="0"/>
                  </a:moveTo>
                  <a:lnTo>
                    <a:pt x="368852" y="0"/>
                  </a:lnTo>
                  <a:lnTo>
                    <a:pt x="368852" y="1198943"/>
                  </a:lnTo>
                  <a:lnTo>
                    <a:pt x="0" y="1198943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4"/>
          <p:cNvSpPr txBox="1"/>
          <p:nvPr/>
        </p:nvSpPr>
        <p:spPr>
          <a:xfrm>
            <a:off x="2072914" y="2324039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01</a:t>
            </a:r>
          </a:p>
        </p:txBody>
      </p:sp>
      <p:sp>
        <p:nvSpPr>
          <p:cNvPr id="29" name="TextBox 15"/>
          <p:cNvSpPr txBox="1"/>
          <p:nvPr/>
        </p:nvSpPr>
        <p:spPr>
          <a:xfrm>
            <a:off x="2072914" y="3089626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02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3351262" y="2402284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>
                <a:solidFill>
                  <a:srgbClr val="0F2B42"/>
                </a:solidFill>
              </a:rPr>
              <a:t>Temáticas clave de la semana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351261" y="3217948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 smtClean="0">
                <a:solidFill>
                  <a:srgbClr val="0F2B42"/>
                </a:solidFill>
              </a:rPr>
              <a:t>Ejemplos prácticos</a:t>
            </a:r>
            <a:endParaRPr lang="en-US" sz="2524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8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s-CL" sz="4400" b="1" dirty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506100" y="1506885"/>
            <a:ext cx="9785131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Arquitectura con base de datos.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5044" y="2214612"/>
            <a:ext cx="6047828" cy="2057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92612"/>
              </p:ext>
            </p:extLst>
          </p:nvPr>
        </p:nvGraphicFramePr>
        <p:xfrm>
          <a:off x="2355044" y="4498778"/>
          <a:ext cx="6047828" cy="2194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96549">
                  <a:extLst>
                    <a:ext uri="{9D8B030D-6E8A-4147-A177-3AD203B41FA5}">
                      <a16:colId xmlns:a16="http://schemas.microsoft.com/office/drawing/2014/main" val="3078746882"/>
                    </a:ext>
                  </a:extLst>
                </a:gridCol>
                <a:gridCol w="4451279">
                  <a:extLst>
                    <a:ext uri="{9D8B030D-6E8A-4147-A177-3AD203B41FA5}">
                      <a16:colId xmlns:a16="http://schemas.microsoft.com/office/drawing/2014/main" val="4076671098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Tipo</a:t>
                      </a:r>
                      <a:r>
                        <a:rPr lang="es-CL" sz="1200" baseline="0" dirty="0" smtClean="0"/>
                        <a:t> de clase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Uso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1206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Controller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Puerta de entrada al microservicio. Acá se definen los </a:t>
                      </a:r>
                      <a:r>
                        <a:rPr lang="es-CL" sz="1200" dirty="0" err="1" smtClean="0"/>
                        <a:t>endpoints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00396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Service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Lógica de negocio del microservicio. Conecta con capas encargadas de salir</a:t>
                      </a:r>
                      <a:r>
                        <a:rPr lang="es-CL" sz="1200" baseline="0" dirty="0" smtClean="0"/>
                        <a:t> a otros componentes como bases de datos y otros </a:t>
                      </a:r>
                      <a:r>
                        <a:rPr lang="es-CL" sz="1200" baseline="0" dirty="0" err="1" smtClean="0"/>
                        <a:t>microservicios</a:t>
                      </a:r>
                      <a:r>
                        <a:rPr lang="es-CL" sz="1200" baseline="0" dirty="0" smtClean="0"/>
                        <a:t>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68419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Repository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Interfaz o clase que permite comunicar</a:t>
                      </a:r>
                      <a:r>
                        <a:rPr lang="es-CL" sz="1200" baseline="0" dirty="0" smtClean="0"/>
                        <a:t> el microservicio con una base de datos.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0577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DTO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Clase que representa un objeto de entrada.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4224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Entity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Clase que representa una tabla de la base de datos.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13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83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866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Qué es JPA.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JPA </a:t>
            </a:r>
            <a:r>
              <a:rPr lang="es-ES" sz="2000" spc="247" dirty="0">
                <a:solidFill>
                  <a:srgbClr val="0F2B42"/>
                </a:solidFill>
              </a:rPr>
              <a:t>(Java </a:t>
            </a:r>
            <a:r>
              <a:rPr lang="es-ES" sz="2000" spc="247" dirty="0" err="1">
                <a:solidFill>
                  <a:srgbClr val="0F2B42"/>
                </a:solidFill>
              </a:rPr>
              <a:t>Persistence</a:t>
            </a:r>
            <a:r>
              <a:rPr lang="es-ES" sz="2000" spc="247" dirty="0">
                <a:solidFill>
                  <a:srgbClr val="0F2B42"/>
                </a:solidFill>
              </a:rPr>
              <a:t> API) es una especificación de </a:t>
            </a:r>
            <a:r>
              <a:rPr lang="es-ES" sz="2000" spc="247" dirty="0" smtClean="0">
                <a:solidFill>
                  <a:srgbClr val="0F2B42"/>
                </a:solidFill>
              </a:rPr>
              <a:t>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trabajar con bases de datos usando objetos </a:t>
            </a:r>
            <a:r>
              <a:rPr lang="es-ES" sz="2000" spc="247" dirty="0" smtClean="0">
                <a:solidFill>
                  <a:srgbClr val="0F2B42"/>
                </a:solidFill>
              </a:rPr>
              <a:t>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Es </a:t>
            </a:r>
            <a:r>
              <a:rPr lang="es-ES" sz="2000" spc="247" dirty="0">
                <a:solidFill>
                  <a:srgbClr val="0F2B42"/>
                </a:solidFill>
              </a:rPr>
              <a:t>una capa de abstracción sobre </a:t>
            </a:r>
            <a:r>
              <a:rPr lang="es-ES" sz="2000" spc="247" dirty="0" smtClean="0">
                <a:solidFill>
                  <a:srgbClr val="0F2B42"/>
                </a:solidFill>
              </a:rPr>
              <a:t>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 </a:t>
            </a:r>
            <a:r>
              <a:rPr lang="es-ES" sz="2000" spc="247" dirty="0">
                <a:solidFill>
                  <a:srgbClr val="0F2B42"/>
                </a:solidFill>
              </a:rPr>
              <a:t>es una </a:t>
            </a:r>
            <a:r>
              <a:rPr lang="es-ES" sz="2000" spc="247" dirty="0" smtClean="0">
                <a:solidFill>
                  <a:srgbClr val="0F2B42"/>
                </a:solidFill>
              </a:rPr>
              <a:t>implementación: </a:t>
            </a:r>
            <a:r>
              <a:rPr lang="es-ES" sz="2000" spc="247" dirty="0">
                <a:solidFill>
                  <a:srgbClr val="0F2B42"/>
                </a:solidFill>
              </a:rPr>
              <a:t>usa frameworks como </a:t>
            </a:r>
            <a:r>
              <a:rPr lang="es-ES" sz="2000" spc="247" dirty="0" smtClean="0">
                <a:solidFill>
                  <a:srgbClr val="0F2B42"/>
                </a:solidFill>
              </a:rPr>
              <a:t>Hibernate.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integra fácilmente con Spring Boot.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55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JPA: ¿Qué problema resuelve?.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Evita </a:t>
            </a:r>
            <a:r>
              <a:rPr lang="es-ES" sz="2000" spc="247" dirty="0">
                <a:solidFill>
                  <a:srgbClr val="0F2B42"/>
                </a:solidFill>
              </a:rPr>
              <a:t>escribir consultas SQL manuales </a:t>
            </a:r>
            <a:r>
              <a:rPr lang="es-ES" sz="2000" spc="247" dirty="0" smtClean="0">
                <a:solidFill>
                  <a:srgbClr val="0F2B42"/>
                </a:solidFill>
              </a:rPr>
              <a:t>repetitivas.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Reduce </a:t>
            </a:r>
            <a:r>
              <a:rPr lang="es-ES" sz="2000" spc="247" dirty="0">
                <a:solidFill>
                  <a:srgbClr val="0F2B42"/>
                </a:solidFill>
              </a:rPr>
              <a:t>la complejidad del acceso a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trabajar a nivel de objetos en lugar de </a:t>
            </a:r>
            <a:r>
              <a:rPr lang="es-ES" sz="2000" spc="247" dirty="0" smtClean="0">
                <a:solidFill>
                  <a:srgbClr val="0F2B42"/>
                </a:solidFill>
              </a:rPr>
              <a:t>tablas.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Mejora </a:t>
            </a:r>
            <a:r>
              <a:rPr lang="es-ES" sz="2000" spc="247" dirty="0">
                <a:solidFill>
                  <a:srgbClr val="0F2B42"/>
                </a:solidFill>
              </a:rPr>
              <a:t>la mantenibilidad del </a:t>
            </a:r>
            <a:r>
              <a:rPr lang="es-ES" sz="2000" spc="247" dirty="0" smtClean="0">
                <a:solidFill>
                  <a:srgbClr val="0F2B42"/>
                </a:solidFill>
              </a:rPr>
              <a:t>código.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Facilita </a:t>
            </a:r>
            <a:r>
              <a:rPr lang="es-ES" sz="2000" spc="247" dirty="0">
                <a:solidFill>
                  <a:srgbClr val="0F2B42"/>
                </a:solidFill>
              </a:rPr>
              <a:t>el desarrollo de aplicaciones </a:t>
            </a:r>
            <a:r>
              <a:rPr lang="es-ES" sz="2000" spc="247" dirty="0" smtClean="0">
                <a:solidFill>
                  <a:srgbClr val="0F2B42"/>
                </a:solidFill>
              </a:rPr>
              <a:t>backend.</a:t>
            </a:r>
          </a:p>
        </p:txBody>
      </p:sp>
    </p:spTree>
    <p:extLst>
      <p:ext uri="{BB962C8B-B14F-4D97-AF65-F5344CB8AC3E}">
        <p14:creationId xmlns:p14="http://schemas.microsoft.com/office/powerpoint/2010/main" val="279242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5097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Concepto de ORM.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ORM </a:t>
            </a:r>
            <a:r>
              <a:rPr lang="es-ES" sz="2000" spc="247" dirty="0">
                <a:solidFill>
                  <a:srgbClr val="0F2B42"/>
                </a:solidFill>
              </a:rPr>
              <a:t>= </a:t>
            </a:r>
            <a:r>
              <a:rPr lang="es-ES" sz="2000" spc="247" dirty="0" err="1">
                <a:solidFill>
                  <a:srgbClr val="0F2B42"/>
                </a:solidFill>
              </a:rPr>
              <a:t>Object</a:t>
            </a:r>
            <a:r>
              <a:rPr lang="es-ES" sz="2000" spc="247" dirty="0">
                <a:solidFill>
                  <a:srgbClr val="0F2B42"/>
                </a:solidFill>
              </a:rPr>
              <a:t> </a:t>
            </a:r>
            <a:r>
              <a:rPr lang="es-ES" sz="2000" spc="247" dirty="0" err="1">
                <a:solidFill>
                  <a:srgbClr val="0F2B42"/>
                </a:solidFill>
              </a:rPr>
              <a:t>Relational</a:t>
            </a:r>
            <a:r>
              <a:rPr lang="es-ES" sz="2000" spc="247" dirty="0">
                <a:solidFill>
                  <a:srgbClr val="0F2B42"/>
                </a:solidFill>
              </a:rPr>
              <a:t> </a:t>
            </a:r>
            <a:r>
              <a:rPr lang="es-ES" sz="2000" spc="247" dirty="0" err="1" smtClean="0">
                <a:solidFill>
                  <a:srgbClr val="0F2B42"/>
                </a:solidFill>
              </a:rPr>
              <a:t>Mapping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mapear</a:t>
            </a:r>
            <a:r>
              <a:rPr lang="es-ES" sz="2000" spc="247" dirty="0" smtClean="0">
                <a:solidFill>
                  <a:srgbClr val="0F2B42"/>
                </a:solidFill>
              </a:rPr>
              <a:t>: Objetos </a:t>
            </a:r>
            <a:r>
              <a:rPr lang="es-ES" sz="2000" spc="247" dirty="0" smtClean="0">
                <a:solidFill>
                  <a:srgbClr val="0F2B42"/>
                </a:solidFill>
              </a:rPr>
              <a:t>con </a:t>
            </a:r>
            <a:r>
              <a:rPr lang="es-ES" sz="2000" spc="247" dirty="0" smtClean="0">
                <a:solidFill>
                  <a:srgbClr val="0F2B42"/>
                </a:solidFill>
              </a:rPr>
              <a:t>tablas </a:t>
            </a:r>
            <a:r>
              <a:rPr lang="es-ES" sz="2000" spc="247" dirty="0">
                <a:solidFill>
                  <a:srgbClr val="0F2B42"/>
                </a:solidFill>
              </a:rPr>
              <a:t>de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Cada </a:t>
            </a:r>
            <a:r>
              <a:rPr lang="es-ES" sz="2000" spc="247" dirty="0">
                <a:solidFill>
                  <a:srgbClr val="0F2B42"/>
                </a:solidFill>
              </a:rPr>
              <a:t>objeto representa un </a:t>
            </a:r>
            <a:r>
              <a:rPr lang="es-ES" sz="2000" spc="247" dirty="0" smtClean="0">
                <a:solidFill>
                  <a:srgbClr val="0F2B42"/>
                </a:solidFill>
              </a:rPr>
              <a:t>registro.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Cada </a:t>
            </a:r>
            <a:r>
              <a:rPr lang="es-ES" sz="2000" spc="247" dirty="0">
                <a:solidFill>
                  <a:srgbClr val="0F2B42"/>
                </a:solidFill>
              </a:rPr>
              <a:t>atributo representa una </a:t>
            </a:r>
            <a:r>
              <a:rPr lang="es-ES" sz="2000" spc="247" dirty="0" smtClean="0">
                <a:solidFill>
                  <a:srgbClr val="0F2B42"/>
                </a:solidFill>
              </a:rPr>
              <a:t>columna.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Ejemplo </a:t>
            </a:r>
            <a:r>
              <a:rPr lang="es-ES" sz="2000" spc="247" dirty="0" smtClean="0">
                <a:solidFill>
                  <a:srgbClr val="0F2B42"/>
                </a:solidFill>
              </a:rPr>
              <a:t>conceptual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Objeto Java: Usuario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nombre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Tabla: Usuarios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nombre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96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5097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Diferencia entre JPA y JDBC: Nivel de abstracción.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JDBC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Bajo nivel.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trabaja directamente con </a:t>
            </a:r>
            <a:r>
              <a:rPr lang="es-ES" sz="2000" spc="247" dirty="0" smtClean="0">
                <a:solidFill>
                  <a:srgbClr val="0F2B42"/>
                </a:solidFill>
              </a:rPr>
              <a:t>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Manejo </a:t>
            </a:r>
            <a:r>
              <a:rPr lang="es-ES" sz="2000" spc="247" dirty="0">
                <a:solidFill>
                  <a:srgbClr val="0F2B42"/>
                </a:solidFill>
              </a:rPr>
              <a:t>manual de </a:t>
            </a:r>
            <a:r>
              <a:rPr lang="es-ES" sz="2000" spc="247" dirty="0" smtClean="0">
                <a:solidFill>
                  <a:srgbClr val="0F2B42"/>
                </a:solidFill>
              </a:rPr>
              <a:t>conexiones.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Código más </a:t>
            </a:r>
            <a:r>
              <a:rPr lang="es-ES" sz="2000" spc="247" dirty="0" smtClean="0">
                <a:solidFill>
                  <a:srgbClr val="0F2B42"/>
                </a:solidFill>
              </a:rPr>
              <a:t>largo.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Conversión manual de datos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JPA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Alto nivel.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trabaja con objetos </a:t>
            </a:r>
            <a:r>
              <a:rPr lang="es-ES" sz="2000" spc="247" dirty="0" smtClean="0">
                <a:solidFill>
                  <a:srgbClr val="0F2B42"/>
                </a:solidFill>
              </a:rPr>
              <a:t>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SQL </a:t>
            </a:r>
            <a:r>
              <a:rPr lang="es-ES" sz="2000" spc="247" dirty="0">
                <a:solidFill>
                  <a:srgbClr val="0F2B42"/>
                </a:solidFill>
              </a:rPr>
              <a:t>generado </a:t>
            </a:r>
            <a:r>
              <a:rPr lang="es-ES" sz="2000" spc="247" dirty="0" smtClean="0">
                <a:solidFill>
                  <a:srgbClr val="0F2B42"/>
                </a:solidFill>
              </a:rPr>
              <a:t>automáticamente.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r>
              <a:rPr lang="es-ES" sz="2000" b="1" spc="247" dirty="0" smtClean="0">
                <a:solidFill>
                  <a:srgbClr val="0F2B42"/>
                </a:solidFill>
              </a:rPr>
              <a:t>JDBC </a:t>
            </a:r>
            <a:r>
              <a:rPr lang="es-ES" sz="2000" b="1" spc="247" dirty="0">
                <a:solidFill>
                  <a:srgbClr val="0F2B42"/>
                </a:solidFill>
              </a:rPr>
              <a:t>trabaja con tablas, JPA trabaja con </a:t>
            </a:r>
            <a:r>
              <a:rPr lang="es-ES" sz="2000" b="1" spc="247" dirty="0" smtClean="0">
                <a:solidFill>
                  <a:srgbClr val="0F2B42"/>
                </a:solidFill>
              </a:rPr>
              <a:t>objetos.</a:t>
            </a:r>
          </a:p>
        </p:txBody>
      </p:sp>
    </p:spTree>
    <p:extLst>
      <p:ext uri="{BB962C8B-B14F-4D97-AF65-F5344CB8AC3E}">
        <p14:creationId xmlns:p14="http://schemas.microsoft.com/office/powerpoint/2010/main" val="158661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174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Diferencia entre JPA y JDBC: Control vs productividad.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JDBC: </a:t>
            </a:r>
            <a:r>
              <a:rPr lang="es-ES" sz="2000" spc="247" dirty="0">
                <a:solidFill>
                  <a:srgbClr val="0F2B42"/>
                </a:solidFill>
              </a:rPr>
              <a:t>Mayor </a:t>
            </a:r>
            <a:r>
              <a:rPr lang="es-ES" sz="2000" spc="247" dirty="0" smtClean="0">
                <a:solidFill>
                  <a:srgbClr val="0F2B42"/>
                </a:solidFill>
              </a:rPr>
              <a:t>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Control </a:t>
            </a:r>
            <a:r>
              <a:rPr lang="es-ES" sz="2000" spc="247" dirty="0">
                <a:solidFill>
                  <a:srgbClr val="0F2B42"/>
                </a:solidFill>
              </a:rPr>
              <a:t>total sobre </a:t>
            </a:r>
            <a:r>
              <a:rPr lang="es-ES" sz="2000" spc="247" dirty="0" smtClean="0">
                <a:solidFill>
                  <a:srgbClr val="0F2B42"/>
                </a:solidFill>
              </a:rPr>
              <a:t>SQL.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Mejor </a:t>
            </a:r>
            <a:r>
              <a:rPr lang="es-ES" sz="2000" spc="247" dirty="0">
                <a:solidFill>
                  <a:srgbClr val="0F2B42"/>
                </a:solidFill>
              </a:rPr>
              <a:t>optimización </a:t>
            </a:r>
            <a:r>
              <a:rPr lang="es-ES" sz="2000" spc="247" dirty="0" smtClean="0">
                <a:solidFill>
                  <a:srgbClr val="0F2B42"/>
                </a:solidFill>
              </a:rPr>
              <a:t>específica.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Más </a:t>
            </a:r>
            <a:r>
              <a:rPr lang="es-ES" sz="2000" spc="247" dirty="0">
                <a:solidFill>
                  <a:srgbClr val="0F2B42"/>
                </a:solidFill>
              </a:rPr>
              <a:t>código </a:t>
            </a:r>
            <a:r>
              <a:rPr lang="es-ES" sz="2000" spc="247" dirty="0" smtClean="0">
                <a:solidFill>
                  <a:srgbClr val="0F2B42"/>
                </a:solidFill>
              </a:rPr>
              <a:t>manual.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JPA: </a:t>
            </a:r>
            <a:r>
              <a:rPr lang="es-ES" sz="2000" spc="247" dirty="0">
                <a:solidFill>
                  <a:srgbClr val="0F2B42"/>
                </a:solidFill>
              </a:rPr>
              <a:t>Mayor </a:t>
            </a:r>
            <a:r>
              <a:rPr lang="es-ES" sz="2000" spc="247" dirty="0" smtClean="0">
                <a:solidFill>
                  <a:srgbClr val="0F2B42"/>
                </a:solidFill>
              </a:rPr>
              <a:t>productividad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Menos código.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Desarrollo </a:t>
            </a:r>
            <a:r>
              <a:rPr lang="es-ES" sz="2000" spc="247" dirty="0">
                <a:solidFill>
                  <a:srgbClr val="0F2B42"/>
                </a:solidFill>
              </a:rPr>
              <a:t>más </a:t>
            </a:r>
            <a:r>
              <a:rPr lang="es-ES" sz="2000" spc="247" dirty="0" smtClean="0">
                <a:solidFill>
                  <a:srgbClr val="0F2B42"/>
                </a:solidFill>
              </a:rPr>
              <a:t>rápido.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Menor </a:t>
            </a:r>
            <a:r>
              <a:rPr lang="es-ES" sz="2000" spc="247" dirty="0">
                <a:solidFill>
                  <a:srgbClr val="0F2B42"/>
                </a:solidFill>
              </a:rPr>
              <a:t>control sobre el SQL </a:t>
            </a:r>
            <a:r>
              <a:rPr lang="es-ES" sz="2000" spc="247" dirty="0" smtClean="0">
                <a:solidFill>
                  <a:srgbClr val="0F2B42"/>
                </a:solidFill>
              </a:rPr>
              <a:t>generado.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b="1" spc="247" dirty="0" smtClean="0">
                <a:solidFill>
                  <a:srgbClr val="0F2B42"/>
                </a:solidFill>
              </a:rPr>
              <a:t>JDBC </a:t>
            </a:r>
            <a:r>
              <a:rPr lang="es-ES" sz="2000" b="1" spc="247" dirty="0">
                <a:solidFill>
                  <a:srgbClr val="0F2B42"/>
                </a:solidFill>
              </a:rPr>
              <a:t>te da control, JPA te da velocidad de </a:t>
            </a:r>
            <a:r>
              <a:rPr lang="es-ES" sz="2000" b="1" spc="247" dirty="0" smtClean="0">
                <a:solidFill>
                  <a:srgbClr val="0F2B42"/>
                </a:solidFill>
              </a:rPr>
              <a:t>desarrollo.</a:t>
            </a:r>
          </a:p>
        </p:txBody>
      </p:sp>
    </p:spTree>
    <p:extLst>
      <p:ext uri="{BB962C8B-B14F-4D97-AF65-F5344CB8AC3E}">
        <p14:creationId xmlns:p14="http://schemas.microsoft.com/office/powerpoint/2010/main" val="184713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Tabla Resumen.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60800"/>
              </p:ext>
            </p:extLst>
          </p:nvPr>
        </p:nvGraphicFramePr>
        <p:xfrm>
          <a:off x="782192" y="2448076"/>
          <a:ext cx="9692791" cy="3479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76528">
                  <a:extLst>
                    <a:ext uri="{9D8B030D-6E8A-4147-A177-3AD203B41FA5}">
                      <a16:colId xmlns:a16="http://schemas.microsoft.com/office/drawing/2014/main" val="1563394883"/>
                    </a:ext>
                  </a:extLst>
                </a:gridCol>
                <a:gridCol w="1751203">
                  <a:extLst>
                    <a:ext uri="{9D8B030D-6E8A-4147-A177-3AD203B41FA5}">
                      <a16:colId xmlns:a16="http://schemas.microsoft.com/office/drawing/2014/main" val="3965820414"/>
                    </a:ext>
                  </a:extLst>
                </a:gridCol>
                <a:gridCol w="4703826">
                  <a:extLst>
                    <a:ext uri="{9D8B030D-6E8A-4147-A177-3AD203B41FA5}">
                      <a16:colId xmlns:a16="http://schemas.microsoft.com/office/drawing/2014/main" val="2078546465"/>
                    </a:ext>
                  </a:extLst>
                </a:gridCol>
                <a:gridCol w="2061234">
                  <a:extLst>
                    <a:ext uri="{9D8B030D-6E8A-4147-A177-3AD203B41FA5}">
                      <a16:colId xmlns:a16="http://schemas.microsoft.com/office/drawing/2014/main" val="4201397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Concepto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Qué 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Uso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14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1"/>
                        <a:t>JDBC</a:t>
                      </a:r>
                      <a:endParaRPr lang="es-C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API de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Permite conectarse y ejecutar SQL directamente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Acceso manual a base de datos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65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1"/>
                        <a:t>JPA</a:t>
                      </a:r>
                      <a:endParaRPr lang="es-C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Especificación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Define cómo trabajar con persistencia en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Trabajar con objetos en vez de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05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1"/>
                        <a:t>ORM</a:t>
                      </a:r>
                      <a:endParaRPr lang="es-C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Concepto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Técnica que mapea objetos </a:t>
                      </a:r>
                      <a:r>
                        <a:rPr lang="es-ES" dirty="0" smtClean="0"/>
                        <a:t>con </a:t>
                      </a:r>
                      <a:r>
                        <a:rPr lang="es-ES" dirty="0"/>
                        <a:t>tablas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Facilitar la persistencia de datos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96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1"/>
                        <a:t>Hibernate</a:t>
                      </a:r>
                      <a:endParaRPr lang="es-C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Implementación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Framework que implementa JPA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Ejecutar ORM en aplicaciones reales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880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00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481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Entities (Modelo de Datos).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¿</a:t>
            </a:r>
            <a:r>
              <a:rPr lang="es-ES" sz="2000" spc="247" dirty="0">
                <a:solidFill>
                  <a:srgbClr val="0F2B42"/>
                </a:solidFill>
              </a:rPr>
              <a:t>Qué es una </a:t>
            </a:r>
            <a:r>
              <a:rPr lang="es-ES" sz="2000" spc="247" dirty="0" err="1">
                <a:solidFill>
                  <a:srgbClr val="0F2B42"/>
                </a:solidFill>
              </a:rPr>
              <a:t>Entity</a:t>
            </a:r>
            <a:r>
              <a:rPr lang="es-ES" sz="2000" spc="247" dirty="0" smtClean="0">
                <a:solidFill>
                  <a:srgbClr val="0F2B42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Una </a:t>
            </a:r>
            <a:r>
              <a:rPr lang="es-ES" sz="2000" spc="247" dirty="0" err="1">
                <a:solidFill>
                  <a:srgbClr val="0F2B42"/>
                </a:solidFill>
              </a:rPr>
              <a:t>Entity</a:t>
            </a:r>
            <a:r>
              <a:rPr lang="es-ES" sz="2000" spc="247" dirty="0">
                <a:solidFill>
                  <a:srgbClr val="0F2B42"/>
                </a:solidFill>
              </a:rPr>
              <a:t> es una clase Java que representa una tabla en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Cada </a:t>
            </a:r>
            <a:r>
              <a:rPr lang="es-ES" sz="2000" spc="247" dirty="0">
                <a:solidFill>
                  <a:srgbClr val="0F2B42"/>
                </a:solidFill>
              </a:rPr>
              <a:t>objeto de la clase representa un registro (fila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 para mapear datos entre la aplicación y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Es </a:t>
            </a:r>
            <a:r>
              <a:rPr lang="es-ES" sz="2000" spc="247" dirty="0">
                <a:solidFill>
                  <a:srgbClr val="0F2B42"/>
                </a:solidFill>
              </a:rPr>
              <a:t>gestionada por </a:t>
            </a:r>
            <a:r>
              <a:rPr lang="es-ES" sz="2000" spc="247" dirty="0" smtClean="0">
                <a:solidFill>
                  <a:srgbClr val="0F2B42"/>
                </a:solidFill>
              </a:rPr>
              <a:t>JPA.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b="1" spc="247" dirty="0" smtClean="0">
                <a:solidFill>
                  <a:srgbClr val="0F2B42"/>
                </a:solidFill>
              </a:rPr>
              <a:t>Una </a:t>
            </a:r>
            <a:r>
              <a:rPr lang="es-ES" sz="2000" b="1" spc="247" dirty="0" err="1">
                <a:solidFill>
                  <a:srgbClr val="0F2B42"/>
                </a:solidFill>
              </a:rPr>
              <a:t>Entity</a:t>
            </a:r>
            <a:r>
              <a:rPr lang="es-ES" sz="2000" b="1" spc="247" dirty="0">
                <a:solidFill>
                  <a:srgbClr val="0F2B42"/>
                </a:solidFill>
              </a:rPr>
              <a:t> es un objeto Java que representa una </a:t>
            </a:r>
            <a:r>
              <a:rPr lang="es-ES" sz="2000" b="1" spc="247" dirty="0" smtClean="0">
                <a:solidFill>
                  <a:srgbClr val="0F2B42"/>
                </a:solidFill>
              </a:rPr>
              <a:t>tabla.</a:t>
            </a:r>
          </a:p>
        </p:txBody>
      </p:sp>
    </p:spTree>
    <p:extLst>
      <p:ext uri="{BB962C8B-B14F-4D97-AF65-F5344CB8AC3E}">
        <p14:creationId xmlns:p14="http://schemas.microsoft.com/office/powerpoint/2010/main" val="220055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263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Entities: </a:t>
            </a:r>
            <a:r>
              <a:rPr lang="es-ES" sz="2524" spc="247" dirty="0">
                <a:solidFill>
                  <a:srgbClr val="0F2B42"/>
                </a:solidFill>
              </a:rPr>
              <a:t>Relación con tablas.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Clase </a:t>
            </a:r>
            <a:r>
              <a:rPr lang="es-ES" sz="2000" spc="247" dirty="0" smtClean="0">
                <a:solidFill>
                  <a:srgbClr val="0F2B42"/>
                </a:solidFill>
              </a:rPr>
              <a:t>Java: </a:t>
            </a:r>
            <a:r>
              <a:rPr lang="es-ES" sz="2000" spc="247" dirty="0" smtClean="0">
                <a:solidFill>
                  <a:srgbClr val="0F2B42"/>
                </a:solidFill>
              </a:rPr>
              <a:t>Tabla.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Atributos: </a:t>
            </a:r>
            <a:r>
              <a:rPr lang="es-ES" sz="2000" spc="247" dirty="0" smtClean="0">
                <a:solidFill>
                  <a:srgbClr val="0F2B42"/>
                </a:solidFill>
              </a:rPr>
              <a:t>Columnas.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Objeto: </a:t>
            </a:r>
            <a:r>
              <a:rPr lang="es-ES" sz="2000" spc="247" dirty="0">
                <a:solidFill>
                  <a:srgbClr val="0F2B42"/>
                </a:solidFill>
              </a:rPr>
              <a:t>Fila.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956" y="2503487"/>
            <a:ext cx="5955947" cy="821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9647" y="3901252"/>
            <a:ext cx="4012494" cy="2105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830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err="1">
                <a:solidFill>
                  <a:srgbClr val="0F2B42"/>
                </a:solidFill>
              </a:rPr>
              <a:t>Repository</a:t>
            </a:r>
            <a:r>
              <a:rPr lang="es-ES" sz="2524" spc="247" dirty="0">
                <a:solidFill>
                  <a:srgbClr val="0F2B42"/>
                </a:solidFill>
              </a:rPr>
              <a:t> en Spring Data </a:t>
            </a:r>
            <a:r>
              <a:rPr lang="es-ES" sz="2524" spc="247" dirty="0" smtClean="0">
                <a:solidFill>
                  <a:srgbClr val="0F2B42"/>
                </a:solidFill>
              </a:rPr>
              <a:t>JPA.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>
                <a:solidFill>
                  <a:srgbClr val="0F2B42"/>
                </a:solidFill>
              </a:rPr>
              <a:t>¿Qué es un </a:t>
            </a:r>
            <a:r>
              <a:rPr lang="es-ES" sz="2000" spc="247" dirty="0" err="1">
                <a:solidFill>
                  <a:srgbClr val="0F2B42"/>
                </a:solidFill>
              </a:rPr>
              <a:t>Repository</a:t>
            </a:r>
            <a:r>
              <a:rPr lang="es-ES" sz="2000" spc="247" dirty="0" smtClean="0">
                <a:solidFill>
                  <a:srgbClr val="0F2B42"/>
                </a:solidFill>
              </a:rPr>
              <a:t>?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Es </a:t>
            </a:r>
            <a:r>
              <a:rPr lang="es-ES" sz="2000" spc="247" dirty="0">
                <a:solidFill>
                  <a:srgbClr val="0F2B42"/>
                </a:solidFill>
              </a:rPr>
              <a:t>una interfaz que permite acceder a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Forma </a:t>
            </a:r>
            <a:r>
              <a:rPr lang="es-ES" sz="2000" spc="247" dirty="0">
                <a:solidFill>
                  <a:srgbClr val="0F2B42"/>
                </a:solidFill>
              </a:rPr>
              <a:t>parte de la capa de </a:t>
            </a:r>
            <a:r>
              <a:rPr lang="es-ES" sz="2000" spc="247" dirty="0" smtClean="0">
                <a:solidFill>
                  <a:srgbClr val="0F2B42"/>
                </a:solidFill>
              </a:rPr>
              <a:t>persistencia.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realizar operaciones </a:t>
            </a:r>
            <a:r>
              <a:rPr lang="es-ES" sz="2000" spc="247" dirty="0" smtClean="0">
                <a:solidFill>
                  <a:srgbClr val="0F2B42"/>
                </a:solidFill>
              </a:rPr>
              <a:t>CRUD.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Spring </a:t>
            </a:r>
            <a:r>
              <a:rPr lang="es-ES" sz="2000" spc="247" dirty="0">
                <a:solidFill>
                  <a:srgbClr val="0F2B42"/>
                </a:solidFill>
              </a:rPr>
              <a:t>implementa automáticamente su </a:t>
            </a:r>
            <a:r>
              <a:rPr lang="es-ES" sz="2000" spc="247" dirty="0" smtClean="0">
                <a:solidFill>
                  <a:srgbClr val="0F2B42"/>
                </a:solidFill>
              </a:rPr>
              <a:t>lógica.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Trabaja </a:t>
            </a:r>
            <a:r>
              <a:rPr lang="es-ES" sz="2000" spc="247" dirty="0">
                <a:solidFill>
                  <a:srgbClr val="0F2B42"/>
                </a:solidFill>
              </a:rPr>
              <a:t>directamente con </a:t>
            </a:r>
            <a:r>
              <a:rPr lang="es-ES" sz="2000" spc="247" dirty="0" smtClean="0">
                <a:solidFill>
                  <a:srgbClr val="0F2B42"/>
                </a:solidFill>
              </a:rPr>
              <a:t>Entities.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b="1" spc="247" dirty="0" smtClean="0">
                <a:solidFill>
                  <a:srgbClr val="0F2B42"/>
                </a:solidFill>
              </a:rPr>
              <a:t>El </a:t>
            </a:r>
            <a:r>
              <a:rPr lang="es-ES" sz="2000" b="1" spc="247" dirty="0" err="1">
                <a:solidFill>
                  <a:srgbClr val="0F2B42"/>
                </a:solidFill>
              </a:rPr>
              <a:t>repository</a:t>
            </a:r>
            <a:r>
              <a:rPr lang="es-ES" sz="2000" b="1" spc="247" dirty="0">
                <a:solidFill>
                  <a:srgbClr val="0F2B42"/>
                </a:solidFill>
              </a:rPr>
              <a:t> es el puente entre la aplicación y la base de </a:t>
            </a:r>
            <a:r>
              <a:rPr lang="es-ES" sz="2000" b="1" spc="247" dirty="0" smtClean="0">
                <a:solidFill>
                  <a:srgbClr val="0F2B42"/>
                </a:solidFill>
              </a:rPr>
              <a:t>datos.</a:t>
            </a:r>
          </a:p>
        </p:txBody>
      </p:sp>
    </p:spTree>
    <p:extLst>
      <p:ext uri="{BB962C8B-B14F-4D97-AF65-F5344CB8AC3E}">
        <p14:creationId xmlns:p14="http://schemas.microsoft.com/office/powerpoint/2010/main" val="28572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Interfaz </a:t>
            </a:r>
            <a:r>
              <a:rPr lang="es-ES" sz="2524" spc="247" dirty="0" err="1">
                <a:solidFill>
                  <a:srgbClr val="0F2B42"/>
                </a:solidFill>
              </a:rPr>
              <a:t>JpaRepository</a:t>
            </a:r>
            <a:r>
              <a:rPr lang="es-ES" sz="2524" spc="247" dirty="0">
                <a:solidFill>
                  <a:srgbClr val="0F2B42"/>
                </a:solidFill>
              </a:rPr>
              <a:t>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Es </a:t>
            </a:r>
            <a:r>
              <a:rPr lang="es-ES" sz="2000" spc="247" dirty="0">
                <a:solidFill>
                  <a:srgbClr val="0F2B42"/>
                </a:solidFill>
              </a:rPr>
              <a:t>una interfaz de Spring Data </a:t>
            </a:r>
            <a:r>
              <a:rPr lang="es-ES" sz="2000" spc="247" dirty="0" smtClean="0">
                <a:solidFill>
                  <a:srgbClr val="0F2B42"/>
                </a:solidFill>
              </a:rPr>
              <a:t>JPA.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Proporciona </a:t>
            </a:r>
            <a:r>
              <a:rPr lang="es-ES" sz="2000" spc="247" dirty="0">
                <a:solidFill>
                  <a:srgbClr val="0F2B42"/>
                </a:solidFill>
              </a:rPr>
              <a:t>métodos listos para </a:t>
            </a:r>
            <a:r>
              <a:rPr lang="es-ES" sz="2000" spc="247" dirty="0" smtClean="0">
                <a:solidFill>
                  <a:srgbClr val="0F2B42"/>
                </a:solidFill>
              </a:rPr>
              <a:t>usar.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define extendiendo la interfaz.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Parámetros</a:t>
            </a:r>
            <a:r>
              <a:rPr lang="es-ES" sz="2000" spc="247" dirty="0" smtClean="0">
                <a:solidFill>
                  <a:srgbClr val="0F2B42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Usuario: </a:t>
            </a:r>
            <a:r>
              <a:rPr lang="es-ES" sz="2000" spc="247" dirty="0" err="1" smtClean="0">
                <a:solidFill>
                  <a:srgbClr val="0F2B42"/>
                </a:solidFill>
              </a:rPr>
              <a:t>Entity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Long: </a:t>
            </a:r>
            <a:r>
              <a:rPr lang="es-ES" sz="2000" spc="247" dirty="0">
                <a:solidFill>
                  <a:srgbClr val="0F2B42"/>
                </a:solidFill>
              </a:rPr>
              <a:t>tipo de la clave </a:t>
            </a:r>
            <a:r>
              <a:rPr lang="es-ES" sz="2000" spc="247" dirty="0" smtClean="0">
                <a:solidFill>
                  <a:srgbClr val="0F2B42"/>
                </a:solidFill>
              </a:rPr>
              <a:t>primaria.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Métodos principales que </a:t>
            </a:r>
            <a:r>
              <a:rPr lang="es-ES" sz="2000" spc="247" dirty="0" smtClean="0">
                <a:solidFill>
                  <a:srgbClr val="0F2B42"/>
                </a:solidFill>
              </a:rPr>
              <a:t>incluye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save</a:t>
            </a:r>
            <a:r>
              <a:rPr lang="es-ES" sz="2000" spc="247" dirty="0" smtClean="0">
                <a:solidFill>
                  <a:srgbClr val="0F2B42"/>
                </a:solidFill>
              </a:rPr>
              <a:t>(): </a:t>
            </a:r>
            <a:r>
              <a:rPr lang="es-ES" sz="2000" spc="247" dirty="0">
                <a:solidFill>
                  <a:srgbClr val="0F2B42"/>
                </a:solidFill>
              </a:rPr>
              <a:t>guardar o </a:t>
            </a:r>
            <a:r>
              <a:rPr lang="es-ES" sz="2000" spc="247" dirty="0" smtClean="0">
                <a:solidFill>
                  <a:srgbClr val="0F2B42"/>
                </a:solidFill>
              </a:rPr>
              <a:t>actualizar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findById</a:t>
            </a:r>
            <a:r>
              <a:rPr lang="es-ES" sz="2000" spc="247" dirty="0" smtClean="0">
                <a:solidFill>
                  <a:srgbClr val="0F2B42"/>
                </a:solidFill>
              </a:rPr>
              <a:t>(): </a:t>
            </a:r>
            <a:r>
              <a:rPr lang="es-ES" sz="2000" spc="247" dirty="0">
                <a:solidFill>
                  <a:srgbClr val="0F2B42"/>
                </a:solidFill>
              </a:rPr>
              <a:t>buscar por </a:t>
            </a:r>
            <a:r>
              <a:rPr lang="es-ES" sz="2000" spc="247" dirty="0" smtClean="0">
                <a:solidFill>
                  <a:srgbClr val="0F2B42"/>
                </a:solidFill>
              </a:rPr>
              <a:t>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findAll</a:t>
            </a:r>
            <a:r>
              <a:rPr lang="es-ES" sz="2000" spc="247" dirty="0" smtClean="0">
                <a:solidFill>
                  <a:srgbClr val="0F2B42"/>
                </a:solidFill>
              </a:rPr>
              <a:t>(): </a:t>
            </a:r>
            <a:r>
              <a:rPr lang="es-ES" sz="2000" spc="247" dirty="0">
                <a:solidFill>
                  <a:srgbClr val="0F2B42"/>
                </a:solidFill>
              </a:rPr>
              <a:t>obtener </a:t>
            </a:r>
            <a:r>
              <a:rPr lang="es-ES" sz="2000" spc="247" dirty="0" smtClean="0">
                <a:solidFill>
                  <a:srgbClr val="0F2B42"/>
                </a:solidFill>
              </a:rPr>
              <a:t>todos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deleteById</a:t>
            </a:r>
            <a:r>
              <a:rPr lang="es-ES" sz="2000" spc="247" dirty="0" smtClean="0">
                <a:solidFill>
                  <a:srgbClr val="0F2B42"/>
                </a:solidFill>
              </a:rPr>
              <a:t>(): eliminar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226" y="2486983"/>
            <a:ext cx="5539153" cy="616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538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35711" y="1452802"/>
            <a:ext cx="10848168" cy="5405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err="1" smtClean="0">
                <a:solidFill>
                  <a:srgbClr val="0F2B42"/>
                </a:solidFill>
              </a:rPr>
              <a:t>Entity</a:t>
            </a:r>
            <a:r>
              <a:rPr lang="es-ES" sz="2524" spc="247" dirty="0" smtClean="0">
                <a:solidFill>
                  <a:srgbClr val="0F2B42"/>
                </a:solidFill>
              </a:rPr>
              <a:t> vs DTO.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¿Por </a:t>
            </a:r>
            <a:r>
              <a:rPr lang="es-ES" sz="2000" spc="247" dirty="0">
                <a:solidFill>
                  <a:srgbClr val="0F2B42"/>
                </a:solidFill>
              </a:rPr>
              <a:t>qué no conviene devolver </a:t>
            </a:r>
            <a:r>
              <a:rPr lang="es-ES" sz="2000" spc="247" dirty="0" smtClean="0">
                <a:solidFill>
                  <a:srgbClr val="0F2B42"/>
                </a:solidFill>
              </a:rPr>
              <a:t>Entities en el Controller?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Acoplas la API a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Si </a:t>
            </a:r>
            <a:r>
              <a:rPr lang="es-ES" sz="2000" spc="247" dirty="0">
                <a:solidFill>
                  <a:srgbClr val="0F2B42"/>
                </a:solidFill>
              </a:rPr>
              <a:t>cambia la tabla, puede cambiar tu respuesta </a:t>
            </a:r>
            <a:r>
              <a:rPr lang="es-ES" sz="2000" spc="247" dirty="0" smtClean="0">
                <a:solidFill>
                  <a:srgbClr val="0F2B42"/>
                </a:solidFill>
              </a:rPr>
              <a:t>HTTP.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Expones </a:t>
            </a:r>
            <a:r>
              <a:rPr lang="es-ES" sz="2000" spc="247" dirty="0">
                <a:solidFill>
                  <a:srgbClr val="0F2B42"/>
                </a:solidFill>
              </a:rPr>
              <a:t>campos que quizás no deberías </a:t>
            </a:r>
            <a:r>
              <a:rPr lang="es-ES" sz="2000" spc="247" dirty="0" smtClean="0">
                <a:solidFill>
                  <a:srgbClr val="0F2B42"/>
                </a:solidFill>
              </a:rPr>
              <a:t>mostrar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Ejemplo </a:t>
            </a:r>
            <a:r>
              <a:rPr lang="es-ES" sz="2000" spc="247" dirty="0">
                <a:solidFill>
                  <a:srgbClr val="0F2B42"/>
                </a:solidFill>
              </a:rPr>
              <a:t>típico: </a:t>
            </a:r>
            <a:r>
              <a:rPr lang="es-ES" sz="2000" spc="247" dirty="0" err="1">
                <a:solidFill>
                  <a:srgbClr val="0F2B42"/>
                </a:solidFill>
              </a:rPr>
              <a:t>flags</a:t>
            </a:r>
            <a:r>
              <a:rPr lang="es-ES" sz="2000" spc="247" dirty="0">
                <a:solidFill>
                  <a:srgbClr val="0F2B42"/>
                </a:solidFill>
              </a:rPr>
              <a:t> internos, </a:t>
            </a:r>
            <a:r>
              <a:rPr lang="es-ES" sz="2000" spc="247" dirty="0" err="1">
                <a:solidFill>
                  <a:srgbClr val="0F2B42"/>
                </a:solidFill>
              </a:rPr>
              <a:t>ids</a:t>
            </a:r>
            <a:r>
              <a:rPr lang="es-ES" sz="2000" spc="247" dirty="0">
                <a:solidFill>
                  <a:srgbClr val="0F2B42"/>
                </a:solidFill>
              </a:rPr>
              <a:t> técnicos, </a:t>
            </a:r>
            <a:r>
              <a:rPr lang="es-ES" sz="2000" spc="247" dirty="0" err="1">
                <a:solidFill>
                  <a:srgbClr val="0F2B42"/>
                </a:solidFill>
              </a:rPr>
              <a:t>timestamps</a:t>
            </a:r>
            <a:r>
              <a:rPr lang="es-ES" sz="2000" spc="247" dirty="0">
                <a:solidFill>
                  <a:srgbClr val="0F2B42"/>
                </a:solidFill>
              </a:rPr>
              <a:t>, relaciones, etc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Dificulta </a:t>
            </a:r>
            <a:r>
              <a:rPr lang="es-ES" sz="2000" spc="247" dirty="0">
                <a:solidFill>
                  <a:srgbClr val="0F2B42"/>
                </a:solidFill>
              </a:rPr>
              <a:t>evolucionar la </a:t>
            </a:r>
            <a:r>
              <a:rPr lang="es-ES" sz="2000" spc="247" dirty="0" smtClean="0">
                <a:solidFill>
                  <a:srgbClr val="0F2B42"/>
                </a:solidFill>
              </a:rPr>
              <a:t>API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La </a:t>
            </a:r>
            <a:r>
              <a:rPr lang="es-ES" sz="2000" spc="247" dirty="0">
                <a:solidFill>
                  <a:srgbClr val="0F2B42"/>
                </a:solidFill>
              </a:rPr>
              <a:t>salida queda atada al modelo de </a:t>
            </a:r>
            <a:r>
              <a:rPr lang="es-ES" sz="2000" spc="247" dirty="0" smtClean="0">
                <a:solidFill>
                  <a:srgbClr val="0F2B42"/>
                </a:solidFill>
              </a:rPr>
              <a:t>persistencia.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Puede </a:t>
            </a:r>
            <a:r>
              <a:rPr lang="es-ES" sz="2000" spc="247" dirty="0">
                <a:solidFill>
                  <a:srgbClr val="0F2B42"/>
                </a:solidFill>
              </a:rPr>
              <a:t>generar problemas con relaciones </a:t>
            </a:r>
            <a:r>
              <a:rPr lang="es-ES" sz="2000" spc="247" dirty="0" smtClean="0">
                <a:solidFill>
                  <a:srgbClr val="0F2B42"/>
                </a:solidFill>
              </a:rPr>
              <a:t>JPA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ciclos </a:t>
            </a:r>
            <a:r>
              <a:rPr lang="es-ES" sz="2000" spc="247" dirty="0">
                <a:solidFill>
                  <a:srgbClr val="0F2B42"/>
                </a:solidFill>
              </a:rPr>
              <a:t>de </a:t>
            </a:r>
            <a:r>
              <a:rPr lang="es-ES" sz="2000" spc="247" dirty="0" err="1" smtClean="0">
                <a:solidFill>
                  <a:srgbClr val="0F2B42"/>
                </a:solidFill>
              </a:rPr>
              <a:t>serialización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lazy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 err="1" smtClean="0">
                <a:solidFill>
                  <a:srgbClr val="0F2B42"/>
                </a:solidFill>
              </a:rPr>
              <a:t>loading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respuestas </a:t>
            </a:r>
            <a:r>
              <a:rPr lang="es-ES" sz="2000" spc="247" dirty="0">
                <a:solidFill>
                  <a:srgbClr val="0F2B42"/>
                </a:solidFill>
              </a:rPr>
              <a:t>gigantes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70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951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Ejemplos</a:t>
            </a:r>
            <a:r>
              <a:rPr lang="en-US" sz="4400" b="1" dirty="0" smtClean="0">
                <a:solidFill>
                  <a:srgbClr val="0F2B42"/>
                </a:solidFill>
              </a:rPr>
              <a:t> </a:t>
            </a:r>
            <a:r>
              <a:rPr lang="en-US" sz="4400" b="1" dirty="0" err="1" smtClean="0">
                <a:solidFill>
                  <a:srgbClr val="0F2B42"/>
                </a:solidFill>
              </a:rPr>
              <a:t>prácticos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4888" y="2720738"/>
            <a:ext cx="899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s-ES" sz="2800" spc="247" dirty="0" smtClean="0">
                <a:solidFill>
                  <a:srgbClr val="0F2B42"/>
                </a:solidFill>
              </a:rPr>
              <a:t>Desarrollo de microservicios.</a:t>
            </a:r>
          </a:p>
        </p:txBody>
      </p:sp>
    </p:spTree>
    <p:extLst>
      <p:ext uri="{BB962C8B-B14F-4D97-AF65-F5344CB8AC3E}">
        <p14:creationId xmlns:p14="http://schemas.microsoft.com/office/powerpoint/2010/main" val="266458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06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s-CL" sz="1200"/>
          </a:p>
        </p:txBody>
      </p:sp>
      <p:grpSp>
        <p:nvGrpSpPr>
          <p:cNvPr id="3" name="Group 3"/>
          <p:cNvGrpSpPr/>
          <p:nvPr/>
        </p:nvGrpSpPr>
        <p:grpSpPr>
          <a:xfrm rot="826432">
            <a:off x="-12235403" y="-2378106"/>
            <a:ext cx="14017561" cy="8554614"/>
            <a:chOff x="0" y="0"/>
            <a:chExt cx="5537802" cy="33796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37802" cy="3379601"/>
            </a:xfrm>
            <a:custGeom>
              <a:avLst/>
              <a:gdLst/>
              <a:ahLst/>
              <a:cxnLst/>
              <a:rect l="l" t="t" r="r" b="b"/>
              <a:pathLst>
                <a:path w="5537802" h="3379601">
                  <a:moveTo>
                    <a:pt x="0" y="0"/>
                  </a:moveTo>
                  <a:lnTo>
                    <a:pt x="5537802" y="0"/>
                  </a:lnTo>
                  <a:lnTo>
                    <a:pt x="5537802" y="3379601"/>
                  </a:lnTo>
                  <a:lnTo>
                    <a:pt x="0" y="3379601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 rot="773821">
            <a:off x="2494382" y="-3222675"/>
            <a:ext cx="209222" cy="5654899"/>
            <a:chOff x="0" y="0"/>
            <a:chExt cx="82656" cy="2234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656" cy="2234034"/>
            </a:xfrm>
            <a:custGeom>
              <a:avLst/>
              <a:gdLst/>
              <a:ahLst/>
              <a:cxnLst/>
              <a:rect l="l" t="t" r="r" b="b"/>
              <a:pathLst>
                <a:path w="82656" h="2234034">
                  <a:moveTo>
                    <a:pt x="0" y="0"/>
                  </a:moveTo>
                  <a:lnTo>
                    <a:pt x="82656" y="0"/>
                  </a:lnTo>
                  <a:lnTo>
                    <a:pt x="82656" y="2234034"/>
                  </a:lnTo>
                  <a:lnTo>
                    <a:pt x="0" y="2234034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11C59FE3-4171-D317-1E9B-77B57CF153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5817476" y="3139141"/>
            <a:ext cx="3287777" cy="11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0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784</Words>
  <Application>Microsoft Office PowerPoint</Application>
  <PresentationFormat>Panorámica</PresentationFormat>
  <Paragraphs>194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Codec Pro ExtraBold Italics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Alonso</dc:creator>
  <cp:lastModifiedBy>Alonso</cp:lastModifiedBy>
  <cp:revision>162</cp:revision>
  <dcterms:created xsi:type="dcterms:W3CDTF">2025-05-16T02:49:00Z</dcterms:created>
  <dcterms:modified xsi:type="dcterms:W3CDTF">2026-03-31T21:50:21Z</dcterms:modified>
</cp:coreProperties>
</file>