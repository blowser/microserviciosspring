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19" r:id="rId4"/>
    <p:sldId id="324" r:id="rId5"/>
    <p:sldId id="325" r:id="rId6"/>
    <p:sldId id="326" r:id="rId7"/>
    <p:sldId id="327" r:id="rId8"/>
    <p:sldId id="328" r:id="rId9"/>
    <p:sldId id="329" r:id="rId10"/>
    <p:sldId id="323" r:id="rId11"/>
    <p:sldId id="30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6" autoAdjust="0"/>
    <p:restoredTop sz="94660"/>
  </p:normalViewPr>
  <p:slideViewPr>
    <p:cSldViewPr snapToGrid="0">
      <p:cViewPr varScale="1">
        <p:scale>
          <a:sx n="139" d="100"/>
          <a:sy n="139" d="100"/>
        </p:scale>
        <p:origin x="130" y="15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D160-7E9F-4B8C-A177-C5C36EB8DF2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E8900-B0C3-4BA5-856B-53C66036498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408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D160-7E9F-4B8C-A177-C5C36EB8DF2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E8900-B0C3-4BA5-856B-53C66036498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515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D160-7E9F-4B8C-A177-C5C36EB8DF2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E8900-B0C3-4BA5-856B-53C66036498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933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D160-7E9F-4B8C-A177-C5C36EB8DF2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E8900-B0C3-4BA5-856B-53C66036498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558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D160-7E9F-4B8C-A177-C5C36EB8DF2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E8900-B0C3-4BA5-856B-53C66036498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961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D160-7E9F-4B8C-A177-C5C36EB8DF2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E8900-B0C3-4BA5-856B-53C66036498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446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D160-7E9F-4B8C-A177-C5C36EB8DF2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E8900-B0C3-4BA5-856B-53C66036498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029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D160-7E9F-4B8C-A177-C5C36EB8DF2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E8900-B0C3-4BA5-856B-53C66036498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348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D160-7E9F-4B8C-A177-C5C36EB8DF2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E8900-B0C3-4BA5-856B-53C66036498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494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D160-7E9F-4B8C-A177-C5C36EB8DF2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E8900-B0C3-4BA5-856B-53C66036498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735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4D160-7E9F-4B8C-A177-C5C36EB8DF2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E8900-B0C3-4BA5-856B-53C66036498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248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04D160-7E9F-4B8C-A177-C5C36EB8DF2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9E8900-B0C3-4BA5-856B-53C66036498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21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sv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10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sv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sv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10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90.sv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sv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1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sv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1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sv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1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0.sv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100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16"/>
          <p:cNvSpPr/>
          <p:nvPr/>
        </p:nvSpPr>
        <p:spPr>
          <a:xfrm>
            <a:off x="10541665" y="5532883"/>
            <a:ext cx="2421311" cy="1325117"/>
          </a:xfrm>
          <a:custGeom>
            <a:avLst/>
            <a:gdLst/>
            <a:ahLst/>
            <a:cxnLst/>
            <a:rect l="l" t="t" r="r" b="b"/>
            <a:pathLst>
              <a:path w="3806571" h="2083232">
                <a:moveTo>
                  <a:pt x="0" y="0"/>
                </a:moveTo>
                <a:lnTo>
                  <a:pt x="3806571" y="0"/>
                </a:lnTo>
                <a:lnTo>
                  <a:pt x="3806571" y="2083233"/>
                </a:lnTo>
                <a:lnTo>
                  <a:pt x="0" y="20832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4" name="Group 7"/>
          <p:cNvGrpSpPr/>
          <p:nvPr/>
        </p:nvGrpSpPr>
        <p:grpSpPr>
          <a:xfrm>
            <a:off x="0" y="0"/>
            <a:ext cx="1684020" cy="6858000"/>
            <a:chOff x="0" y="0"/>
            <a:chExt cx="812800" cy="2976105"/>
          </a:xfrm>
        </p:grpSpPr>
        <p:sp>
          <p:nvSpPr>
            <p:cNvPr id="5" name="Freeform 8"/>
            <p:cNvSpPr/>
            <p:nvPr/>
          </p:nvSpPr>
          <p:spPr>
            <a:xfrm>
              <a:off x="0" y="0"/>
              <a:ext cx="812800" cy="2976105"/>
            </a:xfrm>
            <a:custGeom>
              <a:avLst/>
              <a:gdLst/>
              <a:ahLst/>
              <a:cxnLst/>
              <a:rect l="l" t="t" r="r" b="b"/>
              <a:pathLst>
                <a:path w="812800" h="2976105">
                  <a:moveTo>
                    <a:pt x="0" y="0"/>
                  </a:moveTo>
                  <a:lnTo>
                    <a:pt x="812800" y="0"/>
                  </a:lnTo>
                  <a:lnTo>
                    <a:pt x="812800" y="2976105"/>
                  </a:lnTo>
                  <a:lnTo>
                    <a:pt x="0" y="2976105"/>
                  </a:lnTo>
                  <a:lnTo>
                    <a:pt x="0" y="0"/>
                  </a:lnTo>
                </a:path>
              </a:pathLst>
            </a:custGeom>
            <a:solidFill>
              <a:srgbClr val="FABC1E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9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9" name="Group 2"/>
          <p:cNvGrpSpPr/>
          <p:nvPr/>
        </p:nvGrpSpPr>
        <p:grpSpPr>
          <a:xfrm>
            <a:off x="9090660" y="0"/>
            <a:ext cx="2161984" cy="6858000"/>
            <a:chOff x="0" y="0"/>
            <a:chExt cx="812800" cy="2976105"/>
          </a:xfrm>
        </p:grpSpPr>
        <p:sp>
          <p:nvSpPr>
            <p:cNvPr id="10" name="Freeform 3"/>
            <p:cNvSpPr/>
            <p:nvPr/>
          </p:nvSpPr>
          <p:spPr>
            <a:xfrm>
              <a:off x="0" y="0"/>
              <a:ext cx="812800" cy="2976105"/>
            </a:xfrm>
            <a:custGeom>
              <a:avLst/>
              <a:gdLst/>
              <a:ahLst/>
              <a:cxnLst/>
              <a:rect l="l" t="t" r="r" b="b"/>
              <a:pathLst>
                <a:path w="812800" h="2976105">
                  <a:moveTo>
                    <a:pt x="0" y="0"/>
                  </a:moveTo>
                  <a:lnTo>
                    <a:pt x="812800" y="0"/>
                  </a:lnTo>
                  <a:lnTo>
                    <a:pt x="812800" y="2976105"/>
                  </a:lnTo>
                  <a:lnTo>
                    <a:pt x="0" y="2976105"/>
                  </a:lnTo>
                  <a:lnTo>
                    <a:pt x="0" y="0"/>
                  </a:lnTo>
                </a:path>
              </a:pathLst>
            </a:custGeom>
            <a:solidFill>
              <a:srgbClr val="0F2B4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1" name="TextBox 4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4" name="Freeform 17"/>
          <p:cNvSpPr/>
          <p:nvPr/>
        </p:nvSpPr>
        <p:spPr>
          <a:xfrm>
            <a:off x="1489522" y="0"/>
            <a:ext cx="5636747" cy="1603247"/>
          </a:xfrm>
          <a:custGeom>
            <a:avLst/>
            <a:gdLst/>
            <a:ahLst/>
            <a:cxnLst/>
            <a:rect l="l" t="t" r="r" b="b"/>
            <a:pathLst>
              <a:path w="6851949" h="1948884">
                <a:moveTo>
                  <a:pt x="0" y="0"/>
                </a:moveTo>
                <a:lnTo>
                  <a:pt x="6851949" y="0"/>
                </a:lnTo>
                <a:lnTo>
                  <a:pt x="6851949" y="1948885"/>
                </a:lnTo>
                <a:lnTo>
                  <a:pt x="0" y="194888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98223" b="-73454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5" name="Freeform 6"/>
          <p:cNvSpPr/>
          <p:nvPr/>
        </p:nvSpPr>
        <p:spPr>
          <a:xfrm>
            <a:off x="8173156" y="224790"/>
            <a:ext cx="3579164" cy="5890260"/>
          </a:xfrm>
          <a:custGeom>
            <a:avLst/>
            <a:gdLst/>
            <a:ahLst/>
            <a:cxnLst/>
            <a:rect l="l" t="t" r="r" b="b"/>
            <a:pathLst>
              <a:path w="5482971" h="9023371">
                <a:moveTo>
                  <a:pt x="0" y="0"/>
                </a:moveTo>
                <a:lnTo>
                  <a:pt x="5482971" y="0"/>
                </a:lnTo>
                <a:lnTo>
                  <a:pt x="5482971" y="9023371"/>
                </a:lnTo>
                <a:lnTo>
                  <a:pt x="0" y="90233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4813" r="-4813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6" name="Freeform 16"/>
          <p:cNvSpPr/>
          <p:nvPr/>
        </p:nvSpPr>
        <p:spPr>
          <a:xfrm>
            <a:off x="-737291" y="20170"/>
            <a:ext cx="2421311" cy="1325117"/>
          </a:xfrm>
          <a:custGeom>
            <a:avLst/>
            <a:gdLst/>
            <a:ahLst/>
            <a:cxnLst/>
            <a:rect l="l" t="t" r="r" b="b"/>
            <a:pathLst>
              <a:path w="3806571" h="2083232">
                <a:moveTo>
                  <a:pt x="0" y="0"/>
                </a:moveTo>
                <a:lnTo>
                  <a:pt x="3806571" y="0"/>
                </a:lnTo>
                <a:lnTo>
                  <a:pt x="3806571" y="2083233"/>
                </a:lnTo>
                <a:lnTo>
                  <a:pt x="0" y="20832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7" name="Group 10"/>
          <p:cNvGrpSpPr/>
          <p:nvPr/>
        </p:nvGrpSpPr>
        <p:grpSpPr>
          <a:xfrm>
            <a:off x="1442608" y="2545079"/>
            <a:ext cx="93827" cy="2399371"/>
            <a:chOff x="0" y="0"/>
            <a:chExt cx="26312" cy="672855"/>
          </a:xfrm>
        </p:grpSpPr>
        <p:sp>
          <p:nvSpPr>
            <p:cNvPr id="18" name="Freeform 11"/>
            <p:cNvSpPr/>
            <p:nvPr/>
          </p:nvSpPr>
          <p:spPr>
            <a:xfrm>
              <a:off x="0" y="0"/>
              <a:ext cx="26312" cy="672855"/>
            </a:xfrm>
            <a:custGeom>
              <a:avLst/>
              <a:gdLst/>
              <a:ahLst/>
              <a:cxnLst/>
              <a:rect l="l" t="t" r="r" b="b"/>
              <a:pathLst>
                <a:path w="26312" h="672855">
                  <a:moveTo>
                    <a:pt x="0" y="0"/>
                  </a:moveTo>
                  <a:lnTo>
                    <a:pt x="26312" y="0"/>
                  </a:lnTo>
                  <a:lnTo>
                    <a:pt x="26312" y="672855"/>
                  </a:lnTo>
                  <a:lnTo>
                    <a:pt x="0" y="672855"/>
                  </a:lnTo>
                  <a:lnTo>
                    <a:pt x="0" y="0"/>
                  </a:lnTo>
                </a:path>
              </a:pathLst>
            </a:custGeom>
            <a:solidFill>
              <a:srgbClr val="0F2B4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9" name="TextBox 12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21" name="TextBox 18">
            <a:extLst>
              <a:ext uri="{FF2B5EF4-FFF2-40B4-BE49-F238E27FC236}">
                <a16:creationId xmlns:a16="http://schemas.microsoft.com/office/drawing/2014/main" id="{D5B04949-1244-385E-1A7C-D2288AD2AC2B}"/>
              </a:ext>
            </a:extLst>
          </p:cNvPr>
          <p:cNvSpPr txBox="1"/>
          <p:nvPr/>
        </p:nvSpPr>
        <p:spPr>
          <a:xfrm>
            <a:off x="1775459" y="2922931"/>
            <a:ext cx="9624009" cy="1012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66"/>
              </a:lnSpc>
            </a:pPr>
            <a:r>
              <a:rPr lang="en-US" sz="6600" b="1" dirty="0">
                <a:solidFill>
                  <a:srgbClr val="0F2B42"/>
                </a:solidFill>
              </a:rPr>
              <a:t>Sesión Sincrónica</a:t>
            </a:r>
          </a:p>
        </p:txBody>
      </p:sp>
      <p:sp>
        <p:nvSpPr>
          <p:cNvPr id="22" name="TextBox 18">
            <a:extLst>
              <a:ext uri="{FF2B5EF4-FFF2-40B4-BE49-F238E27FC236}">
                <a16:creationId xmlns:a16="http://schemas.microsoft.com/office/drawing/2014/main" id="{D5B04949-1244-385E-1A7C-D2288AD2AC2B}"/>
              </a:ext>
            </a:extLst>
          </p:cNvPr>
          <p:cNvSpPr txBox="1"/>
          <p:nvPr/>
        </p:nvSpPr>
        <p:spPr>
          <a:xfrm>
            <a:off x="1950719" y="4065051"/>
            <a:ext cx="9624009" cy="1012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66"/>
              </a:lnSpc>
            </a:pPr>
            <a:r>
              <a:rPr lang="en-US" sz="6600" b="1" dirty="0" err="1" smtClean="0">
                <a:solidFill>
                  <a:srgbClr val="0F2B42"/>
                </a:solidFill>
              </a:rPr>
              <a:t>Semana</a:t>
            </a:r>
            <a:r>
              <a:rPr lang="en-US" sz="6600" b="1" dirty="0" smtClean="0">
                <a:solidFill>
                  <a:srgbClr val="0F2B42"/>
                </a:solidFill>
              </a:rPr>
              <a:t> 3</a:t>
            </a:r>
            <a:endParaRPr lang="en-US" sz="6600" b="1" dirty="0">
              <a:solidFill>
                <a:srgbClr val="0F2B42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85E01895-7A45-CE11-EF16-8D8944724F71}"/>
              </a:ext>
            </a:extLst>
          </p:cNvPr>
          <p:cNvSpPr txBox="1"/>
          <p:nvPr/>
        </p:nvSpPr>
        <p:spPr>
          <a:xfrm>
            <a:off x="1811019" y="5730329"/>
            <a:ext cx="48361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Alonso Castillo</a:t>
            </a:r>
          </a:p>
          <a:p>
            <a:r>
              <a:rPr lang="es-ES" sz="2000" dirty="0"/>
              <a:t>Docente Campus Virtual Duoc UC</a:t>
            </a:r>
            <a:endParaRPr lang="es-CL" sz="2000" dirty="0"/>
          </a:p>
        </p:txBody>
      </p:sp>
    </p:spTree>
    <p:extLst>
      <p:ext uri="{BB962C8B-B14F-4D97-AF65-F5344CB8AC3E}">
        <p14:creationId xmlns:p14="http://schemas.microsoft.com/office/powerpoint/2010/main" val="4282368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16"/>
          <p:cNvSpPr/>
          <p:nvPr/>
        </p:nvSpPr>
        <p:spPr>
          <a:xfrm>
            <a:off x="10541665" y="5532883"/>
            <a:ext cx="2421311" cy="1325117"/>
          </a:xfrm>
          <a:custGeom>
            <a:avLst/>
            <a:gdLst/>
            <a:ahLst/>
            <a:cxnLst/>
            <a:rect l="l" t="t" r="r" b="b"/>
            <a:pathLst>
              <a:path w="3806571" h="2083232">
                <a:moveTo>
                  <a:pt x="0" y="0"/>
                </a:moveTo>
                <a:lnTo>
                  <a:pt x="3806571" y="0"/>
                </a:lnTo>
                <a:lnTo>
                  <a:pt x="3806571" y="2083233"/>
                </a:lnTo>
                <a:lnTo>
                  <a:pt x="0" y="20832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4" name="Group 7"/>
          <p:cNvGrpSpPr/>
          <p:nvPr/>
        </p:nvGrpSpPr>
        <p:grpSpPr>
          <a:xfrm>
            <a:off x="0" y="0"/>
            <a:ext cx="1684020" cy="6858000"/>
            <a:chOff x="0" y="0"/>
            <a:chExt cx="812800" cy="2976105"/>
          </a:xfrm>
        </p:grpSpPr>
        <p:sp>
          <p:nvSpPr>
            <p:cNvPr id="5" name="Freeform 8"/>
            <p:cNvSpPr/>
            <p:nvPr/>
          </p:nvSpPr>
          <p:spPr>
            <a:xfrm>
              <a:off x="0" y="0"/>
              <a:ext cx="812800" cy="2976105"/>
            </a:xfrm>
            <a:custGeom>
              <a:avLst/>
              <a:gdLst/>
              <a:ahLst/>
              <a:cxnLst/>
              <a:rect l="l" t="t" r="r" b="b"/>
              <a:pathLst>
                <a:path w="812800" h="2976105">
                  <a:moveTo>
                    <a:pt x="0" y="0"/>
                  </a:moveTo>
                  <a:lnTo>
                    <a:pt x="812800" y="0"/>
                  </a:lnTo>
                  <a:lnTo>
                    <a:pt x="812800" y="2976105"/>
                  </a:lnTo>
                  <a:lnTo>
                    <a:pt x="0" y="2976105"/>
                  </a:lnTo>
                  <a:lnTo>
                    <a:pt x="0" y="0"/>
                  </a:lnTo>
                </a:path>
              </a:pathLst>
            </a:custGeom>
            <a:solidFill>
              <a:srgbClr val="FABC1E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9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-737291" y="20170"/>
            <a:ext cx="2421311" cy="1325117"/>
          </a:xfrm>
          <a:custGeom>
            <a:avLst/>
            <a:gdLst/>
            <a:ahLst/>
            <a:cxnLst/>
            <a:rect l="l" t="t" r="r" b="b"/>
            <a:pathLst>
              <a:path w="3806571" h="2083232">
                <a:moveTo>
                  <a:pt x="0" y="0"/>
                </a:moveTo>
                <a:lnTo>
                  <a:pt x="3806571" y="0"/>
                </a:lnTo>
                <a:lnTo>
                  <a:pt x="3806571" y="2083233"/>
                </a:lnTo>
                <a:lnTo>
                  <a:pt x="0" y="20832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1" name="TextBox 18">
            <a:extLst>
              <a:ext uri="{FF2B5EF4-FFF2-40B4-BE49-F238E27FC236}">
                <a16:creationId xmlns:a16="http://schemas.microsoft.com/office/drawing/2014/main" id="{D5B04949-1244-385E-1A7C-D2288AD2AC2B}"/>
              </a:ext>
            </a:extLst>
          </p:cNvPr>
          <p:cNvSpPr txBox="1"/>
          <p:nvPr/>
        </p:nvSpPr>
        <p:spPr>
          <a:xfrm>
            <a:off x="2070099" y="333150"/>
            <a:ext cx="9624009" cy="1012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66"/>
              </a:lnSpc>
            </a:pPr>
            <a:r>
              <a:rPr lang="en-US" sz="6600" b="1" dirty="0" err="1" smtClean="0">
                <a:solidFill>
                  <a:srgbClr val="0F2B42"/>
                </a:solidFill>
              </a:rPr>
              <a:t>Contenido</a:t>
            </a:r>
            <a:endParaRPr lang="en-US" sz="6600" b="1" dirty="0">
              <a:solidFill>
                <a:srgbClr val="0F2B42"/>
              </a:solidFill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CB0C67E4-59E2-78AC-A459-6423EB186E7F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09" t="32214" r="15107" b="38473"/>
          <a:stretch/>
        </p:blipFill>
        <p:spPr>
          <a:xfrm>
            <a:off x="9304020" y="156152"/>
            <a:ext cx="2604654" cy="872936"/>
          </a:xfrm>
          <a:prstGeom prst="rect">
            <a:avLst/>
          </a:prstGeom>
        </p:spPr>
      </p:pic>
      <p:grpSp>
        <p:nvGrpSpPr>
          <p:cNvPr id="25" name="Group 2"/>
          <p:cNvGrpSpPr/>
          <p:nvPr/>
        </p:nvGrpSpPr>
        <p:grpSpPr>
          <a:xfrm>
            <a:off x="1902350" y="2006126"/>
            <a:ext cx="1278348" cy="3232393"/>
            <a:chOff x="0" y="0"/>
            <a:chExt cx="368852" cy="1198943"/>
          </a:xfrm>
        </p:grpSpPr>
        <p:sp>
          <p:nvSpPr>
            <p:cNvPr id="26" name="Freeform 3"/>
            <p:cNvSpPr/>
            <p:nvPr/>
          </p:nvSpPr>
          <p:spPr>
            <a:xfrm>
              <a:off x="0" y="0"/>
              <a:ext cx="368852" cy="1198943"/>
            </a:xfrm>
            <a:custGeom>
              <a:avLst/>
              <a:gdLst/>
              <a:ahLst/>
              <a:cxnLst/>
              <a:rect l="l" t="t" r="r" b="b"/>
              <a:pathLst>
                <a:path w="368852" h="1198943">
                  <a:moveTo>
                    <a:pt x="0" y="0"/>
                  </a:moveTo>
                  <a:lnTo>
                    <a:pt x="368852" y="0"/>
                  </a:lnTo>
                  <a:lnTo>
                    <a:pt x="368852" y="1198943"/>
                  </a:lnTo>
                  <a:lnTo>
                    <a:pt x="0" y="1198943"/>
                  </a:lnTo>
                  <a:lnTo>
                    <a:pt x="0" y="0"/>
                  </a:lnTo>
                </a:path>
              </a:pathLst>
            </a:custGeom>
            <a:solidFill>
              <a:srgbClr val="0F2B42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7" name="TextBox 4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8" name="TextBox 14"/>
          <p:cNvSpPr txBox="1"/>
          <p:nvPr/>
        </p:nvSpPr>
        <p:spPr>
          <a:xfrm>
            <a:off x="2072914" y="2324039"/>
            <a:ext cx="937219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4271" spc="350" dirty="0">
                <a:solidFill>
                  <a:srgbClr val="FBBC1E"/>
                </a:solidFill>
                <a:latin typeface="Codec Pro ExtraBold Italics"/>
              </a:rPr>
              <a:t>01</a:t>
            </a:r>
          </a:p>
        </p:txBody>
      </p:sp>
      <p:sp>
        <p:nvSpPr>
          <p:cNvPr id="29" name="TextBox 15"/>
          <p:cNvSpPr txBox="1"/>
          <p:nvPr/>
        </p:nvSpPr>
        <p:spPr>
          <a:xfrm>
            <a:off x="2072914" y="3089626"/>
            <a:ext cx="937219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4271" spc="350" dirty="0">
                <a:solidFill>
                  <a:srgbClr val="FBBC1E"/>
                </a:solidFill>
                <a:latin typeface="Codec Pro ExtraBold Italics"/>
              </a:rPr>
              <a:t>02</a:t>
            </a:r>
          </a:p>
        </p:txBody>
      </p:sp>
      <p:sp>
        <p:nvSpPr>
          <p:cNvPr id="30" name="TextBox 19"/>
          <p:cNvSpPr txBox="1"/>
          <p:nvPr/>
        </p:nvSpPr>
        <p:spPr>
          <a:xfrm>
            <a:off x="3351262" y="2402284"/>
            <a:ext cx="6731547" cy="4221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483"/>
              </a:lnSpc>
              <a:spcBef>
                <a:spcPct val="0"/>
              </a:spcBef>
            </a:pPr>
            <a:r>
              <a:rPr lang="es-ES" sz="2524" spc="247" dirty="0">
                <a:solidFill>
                  <a:srgbClr val="0F2B42"/>
                </a:solidFill>
              </a:rPr>
              <a:t>Temáticas clave de la semana</a:t>
            </a:r>
            <a:endParaRPr lang="en-US" sz="2524" spc="247" dirty="0">
              <a:solidFill>
                <a:srgbClr val="0F2B42"/>
              </a:solidFill>
            </a:endParaRPr>
          </a:p>
        </p:txBody>
      </p:sp>
      <p:sp>
        <p:nvSpPr>
          <p:cNvPr id="31" name="TextBox 19"/>
          <p:cNvSpPr txBox="1"/>
          <p:nvPr/>
        </p:nvSpPr>
        <p:spPr>
          <a:xfrm>
            <a:off x="3351261" y="3217948"/>
            <a:ext cx="6731547" cy="4221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483"/>
              </a:lnSpc>
              <a:spcBef>
                <a:spcPct val="0"/>
              </a:spcBef>
            </a:pPr>
            <a:r>
              <a:rPr lang="es-ES" sz="2524" spc="247" dirty="0" smtClean="0">
                <a:solidFill>
                  <a:srgbClr val="0F2B42"/>
                </a:solidFill>
              </a:rPr>
              <a:t>Ejemplos prácticos</a:t>
            </a:r>
            <a:endParaRPr lang="en-US" sz="2524" spc="247" dirty="0">
              <a:solidFill>
                <a:srgbClr val="0F2B42"/>
              </a:solidFill>
            </a:endParaRPr>
          </a:p>
        </p:txBody>
      </p:sp>
      <p:sp>
        <p:nvSpPr>
          <p:cNvPr id="17" name="TextBox 15"/>
          <p:cNvSpPr txBox="1"/>
          <p:nvPr/>
        </p:nvSpPr>
        <p:spPr>
          <a:xfrm>
            <a:off x="2070099" y="3855213"/>
            <a:ext cx="937219" cy="65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4271" spc="350" dirty="0" smtClean="0">
                <a:solidFill>
                  <a:srgbClr val="FBBC1E"/>
                </a:solidFill>
                <a:latin typeface="Codec Pro ExtraBold Italics"/>
              </a:rPr>
              <a:t>03</a:t>
            </a:r>
            <a:endParaRPr lang="en-US" sz="4271" spc="350" dirty="0">
              <a:solidFill>
                <a:srgbClr val="FBBC1E"/>
              </a:solidFill>
              <a:latin typeface="Codec Pro ExtraBold Italics"/>
            </a:endParaRPr>
          </a:p>
        </p:txBody>
      </p:sp>
      <p:sp>
        <p:nvSpPr>
          <p:cNvPr id="18" name="TextBox 19"/>
          <p:cNvSpPr txBox="1"/>
          <p:nvPr/>
        </p:nvSpPr>
        <p:spPr>
          <a:xfrm>
            <a:off x="3348447" y="3971173"/>
            <a:ext cx="6731547" cy="4221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483"/>
              </a:lnSpc>
              <a:spcBef>
                <a:spcPct val="0"/>
              </a:spcBef>
            </a:pPr>
            <a:r>
              <a:rPr lang="es-ES" sz="2524" spc="247" dirty="0" smtClean="0">
                <a:solidFill>
                  <a:srgbClr val="0F2B42"/>
                </a:solidFill>
              </a:rPr>
              <a:t>Revisión sumativa 1</a:t>
            </a:r>
            <a:endParaRPr lang="en-US" sz="2524" spc="247" dirty="0">
              <a:solidFill>
                <a:srgbClr val="0F2B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6280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18">
            <a:extLst>
              <a:ext uri="{FF2B5EF4-FFF2-40B4-BE49-F238E27FC236}">
                <a16:creationId xmlns:a16="http://schemas.microsoft.com/office/drawing/2014/main" id="{D5B04949-1244-385E-1A7C-D2288AD2AC2B}"/>
              </a:ext>
            </a:extLst>
          </p:cNvPr>
          <p:cNvSpPr txBox="1"/>
          <p:nvPr/>
        </p:nvSpPr>
        <p:spPr>
          <a:xfrm>
            <a:off x="1506482" y="448667"/>
            <a:ext cx="9624009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66"/>
              </a:lnSpc>
            </a:pPr>
            <a:r>
              <a:rPr lang="en-US" sz="4400" b="1" dirty="0" err="1" smtClean="0">
                <a:solidFill>
                  <a:srgbClr val="0F2B42"/>
                </a:solidFill>
              </a:rPr>
              <a:t>Temáticas</a:t>
            </a:r>
            <a:r>
              <a:rPr lang="en-US" sz="4400" b="1" dirty="0" smtClean="0">
                <a:solidFill>
                  <a:srgbClr val="0F2B42"/>
                </a:solidFill>
              </a:rPr>
              <a:t> clave de la </a:t>
            </a:r>
            <a:r>
              <a:rPr lang="en-US" sz="4400" b="1" dirty="0" err="1" smtClean="0">
                <a:solidFill>
                  <a:srgbClr val="0F2B42"/>
                </a:solidFill>
              </a:rPr>
              <a:t>semana</a:t>
            </a:r>
            <a:endParaRPr lang="en-US" sz="4400" b="1" dirty="0">
              <a:solidFill>
                <a:srgbClr val="0F2B42"/>
              </a:solidFill>
            </a:endParaRPr>
          </a:p>
        </p:txBody>
      </p:sp>
      <p:sp>
        <p:nvSpPr>
          <p:cNvPr id="17" name="Freeform 5"/>
          <p:cNvSpPr/>
          <p:nvPr/>
        </p:nvSpPr>
        <p:spPr>
          <a:xfrm flipH="1" flipV="1">
            <a:off x="-1128076" y="-377953"/>
            <a:ext cx="2256151" cy="2001822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4118444" y="3654183"/>
                </a:moveTo>
                <a:lnTo>
                  <a:pt x="0" y="3654183"/>
                </a:lnTo>
                <a:lnTo>
                  <a:pt x="0" y="0"/>
                </a:lnTo>
                <a:lnTo>
                  <a:pt x="4118444" y="0"/>
                </a:lnTo>
                <a:lnTo>
                  <a:pt x="4118444" y="365418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Freeform 4"/>
          <p:cNvSpPr/>
          <p:nvPr/>
        </p:nvSpPr>
        <p:spPr>
          <a:xfrm>
            <a:off x="10981640" y="5102352"/>
            <a:ext cx="2420719" cy="2147838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0" y="0"/>
                </a:moveTo>
                <a:lnTo>
                  <a:pt x="4118443" y="0"/>
                </a:lnTo>
                <a:lnTo>
                  <a:pt x="4118443" y="3654183"/>
                </a:lnTo>
                <a:lnTo>
                  <a:pt x="0" y="36541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9" name="Group 6"/>
          <p:cNvGrpSpPr/>
          <p:nvPr/>
        </p:nvGrpSpPr>
        <p:grpSpPr>
          <a:xfrm>
            <a:off x="10791515" y="0"/>
            <a:ext cx="1400485" cy="897768"/>
            <a:chOff x="0" y="0"/>
            <a:chExt cx="368852" cy="236449"/>
          </a:xfrm>
        </p:grpSpPr>
        <p:sp>
          <p:nvSpPr>
            <p:cNvPr id="22" name="Freeform 7"/>
            <p:cNvSpPr/>
            <p:nvPr/>
          </p:nvSpPr>
          <p:spPr>
            <a:xfrm>
              <a:off x="0" y="0"/>
              <a:ext cx="368852" cy="236449"/>
            </a:xfrm>
            <a:custGeom>
              <a:avLst/>
              <a:gdLst/>
              <a:ahLst/>
              <a:cxnLst/>
              <a:rect l="l" t="t" r="r" b="b"/>
              <a:pathLst>
                <a:path w="368852" h="236449">
                  <a:moveTo>
                    <a:pt x="0" y="0"/>
                  </a:moveTo>
                  <a:lnTo>
                    <a:pt x="368852" y="0"/>
                  </a:lnTo>
                  <a:lnTo>
                    <a:pt x="368852" y="236449"/>
                  </a:lnTo>
                  <a:lnTo>
                    <a:pt x="0" y="236449"/>
                  </a:lnTo>
                  <a:lnTo>
                    <a:pt x="0" y="0"/>
                  </a:lnTo>
                </a:path>
              </a:pathLst>
            </a:custGeom>
            <a:solidFill>
              <a:srgbClr val="0F2B42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8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32" name="Imagen 31">
            <a:extLst>
              <a:ext uri="{FF2B5EF4-FFF2-40B4-BE49-F238E27FC236}">
                <a16:creationId xmlns:a16="http://schemas.microsoft.com/office/drawing/2014/main" id="{6C9D4142-BE72-6780-A8C4-A4191392B31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09" t="32214" r="15107" b="38473"/>
          <a:stretch/>
        </p:blipFill>
        <p:spPr>
          <a:xfrm>
            <a:off x="8112768" y="0"/>
            <a:ext cx="2678747" cy="897768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584637" y="1548332"/>
            <a:ext cx="10848168" cy="4174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524" spc="247" dirty="0" smtClean="0">
                <a:solidFill>
                  <a:srgbClr val="0F2B42"/>
                </a:solidFill>
              </a:rPr>
              <a:t>Desarrollo de microservicios</a:t>
            </a:r>
            <a:r>
              <a:rPr lang="es-ES" sz="2524" spc="247" dirty="0">
                <a:solidFill>
                  <a:srgbClr val="0F2B42"/>
                </a:solidFill>
              </a:rPr>
              <a:t>: Maven.</a:t>
            </a:r>
            <a:endParaRPr lang="es-ES" sz="2524" spc="247" dirty="0" smtClean="0">
              <a:solidFill>
                <a:srgbClr val="0F2B42"/>
              </a:solidFill>
            </a:endParaRPr>
          </a:p>
          <a:p>
            <a:endParaRPr lang="es-ES" sz="2000" spc="247" dirty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Herramienta </a:t>
            </a:r>
            <a:r>
              <a:rPr lang="es-ES" sz="2000" spc="247" dirty="0">
                <a:solidFill>
                  <a:srgbClr val="0F2B42"/>
                </a:solidFill>
              </a:rPr>
              <a:t>de gestión de </a:t>
            </a:r>
            <a:r>
              <a:rPr lang="es-ES" sz="2000" spc="247" dirty="0" smtClean="0">
                <a:solidFill>
                  <a:srgbClr val="0F2B42"/>
                </a:solidFill>
              </a:rPr>
              <a:t>dependencias.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Automatiza </a:t>
            </a:r>
            <a:r>
              <a:rPr lang="es-ES" sz="2000" spc="247" dirty="0">
                <a:solidFill>
                  <a:srgbClr val="0F2B42"/>
                </a:solidFill>
              </a:rPr>
              <a:t>la construcción de proyectos </a:t>
            </a:r>
            <a:r>
              <a:rPr lang="es-ES" sz="2000" spc="247" dirty="0" smtClean="0">
                <a:solidFill>
                  <a:srgbClr val="0F2B42"/>
                </a:solidFill>
              </a:rPr>
              <a:t>Java.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Usa </a:t>
            </a:r>
            <a:r>
              <a:rPr lang="es-ES" sz="2000" spc="247" dirty="0">
                <a:solidFill>
                  <a:srgbClr val="0F2B42"/>
                </a:solidFill>
              </a:rPr>
              <a:t>archivo </a:t>
            </a:r>
            <a:r>
              <a:rPr lang="es-ES" sz="2000" spc="247" dirty="0" smtClean="0">
                <a:solidFill>
                  <a:srgbClr val="0F2B42"/>
                </a:solidFill>
              </a:rPr>
              <a:t>pom.xml.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Permite </a:t>
            </a:r>
            <a:r>
              <a:rPr lang="es-ES" sz="2000" spc="247" dirty="0">
                <a:solidFill>
                  <a:srgbClr val="0F2B42"/>
                </a:solidFill>
              </a:rPr>
              <a:t>agregar librerías </a:t>
            </a:r>
            <a:r>
              <a:rPr lang="es-ES" sz="2000" spc="247" dirty="0" smtClean="0">
                <a:solidFill>
                  <a:srgbClr val="0F2B42"/>
                </a:solidFill>
              </a:rPr>
              <a:t>fácilmente.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Estandariza </a:t>
            </a:r>
            <a:r>
              <a:rPr lang="es-ES" sz="2000" spc="247" dirty="0">
                <a:solidFill>
                  <a:srgbClr val="0F2B42"/>
                </a:solidFill>
              </a:rPr>
              <a:t>la estructura del </a:t>
            </a:r>
            <a:r>
              <a:rPr lang="es-ES" sz="2000" spc="247" dirty="0" smtClean="0">
                <a:solidFill>
                  <a:srgbClr val="0F2B42"/>
                </a:solidFill>
              </a:rPr>
              <a:t>proyecto.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spc="247" dirty="0">
              <a:solidFill>
                <a:srgbClr val="0F2B42"/>
              </a:solidFill>
            </a:endParaRPr>
          </a:p>
          <a:p>
            <a:r>
              <a:rPr lang="es-ES" sz="2000" spc="247" dirty="0" smtClean="0">
                <a:solidFill>
                  <a:srgbClr val="0F2B42"/>
                </a:solidFill>
              </a:rPr>
              <a:t>Conceptos clave</a:t>
            </a:r>
          </a:p>
          <a:p>
            <a:endParaRPr lang="es-ES" sz="2000" spc="247" dirty="0" smtClean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Dependencias: </a:t>
            </a:r>
            <a:r>
              <a:rPr lang="es-ES" sz="2000" spc="247" dirty="0">
                <a:solidFill>
                  <a:srgbClr val="0F2B42"/>
                </a:solidFill>
              </a:rPr>
              <a:t>librerías </a:t>
            </a:r>
            <a:r>
              <a:rPr lang="es-ES" sz="2000" spc="247" dirty="0" smtClean="0">
                <a:solidFill>
                  <a:srgbClr val="0F2B42"/>
                </a:solidFill>
              </a:rPr>
              <a:t>externas.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Plugins: </a:t>
            </a:r>
            <a:r>
              <a:rPr lang="es-ES" sz="2000" spc="247" dirty="0">
                <a:solidFill>
                  <a:srgbClr val="0F2B42"/>
                </a:solidFill>
              </a:rPr>
              <a:t>tareas (</a:t>
            </a:r>
            <a:r>
              <a:rPr lang="es-ES" sz="2000" spc="247" dirty="0" err="1">
                <a:solidFill>
                  <a:srgbClr val="0F2B42"/>
                </a:solidFill>
              </a:rPr>
              <a:t>build</a:t>
            </a:r>
            <a:r>
              <a:rPr lang="es-ES" sz="2000" spc="247" dirty="0">
                <a:solidFill>
                  <a:srgbClr val="0F2B42"/>
                </a:solidFill>
              </a:rPr>
              <a:t>, test, </a:t>
            </a:r>
            <a:r>
              <a:rPr lang="es-ES" sz="2000" spc="247" dirty="0" smtClean="0">
                <a:solidFill>
                  <a:srgbClr val="0F2B42"/>
                </a:solidFill>
              </a:rPr>
              <a:t>run).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Ciclo </a:t>
            </a:r>
            <a:r>
              <a:rPr lang="es-ES" sz="2000" spc="247" dirty="0">
                <a:solidFill>
                  <a:srgbClr val="0F2B42"/>
                </a:solidFill>
              </a:rPr>
              <a:t>de </a:t>
            </a:r>
            <a:r>
              <a:rPr lang="es-ES" sz="2000" spc="247" dirty="0" smtClean="0">
                <a:solidFill>
                  <a:srgbClr val="0F2B42"/>
                </a:solidFill>
              </a:rPr>
              <a:t>vida: </a:t>
            </a:r>
            <a:r>
              <a:rPr lang="es-ES" sz="2000" spc="247" dirty="0">
                <a:solidFill>
                  <a:srgbClr val="0F2B42"/>
                </a:solidFill>
              </a:rPr>
              <a:t>compile, test, package.</a:t>
            </a:r>
            <a:endParaRPr lang="es-ES" sz="2000" spc="247" dirty="0" smtClean="0">
              <a:solidFill>
                <a:srgbClr val="0F2B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6735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18">
            <a:extLst>
              <a:ext uri="{FF2B5EF4-FFF2-40B4-BE49-F238E27FC236}">
                <a16:creationId xmlns:a16="http://schemas.microsoft.com/office/drawing/2014/main" id="{D5B04949-1244-385E-1A7C-D2288AD2AC2B}"/>
              </a:ext>
            </a:extLst>
          </p:cNvPr>
          <p:cNvSpPr txBox="1"/>
          <p:nvPr/>
        </p:nvSpPr>
        <p:spPr>
          <a:xfrm>
            <a:off x="1506482" y="448667"/>
            <a:ext cx="9624009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66"/>
              </a:lnSpc>
            </a:pPr>
            <a:r>
              <a:rPr lang="en-US" sz="4400" b="1" dirty="0" err="1" smtClean="0">
                <a:solidFill>
                  <a:srgbClr val="0F2B42"/>
                </a:solidFill>
              </a:rPr>
              <a:t>Temáticas</a:t>
            </a:r>
            <a:r>
              <a:rPr lang="en-US" sz="4400" b="1" dirty="0" smtClean="0">
                <a:solidFill>
                  <a:srgbClr val="0F2B42"/>
                </a:solidFill>
              </a:rPr>
              <a:t> clave de la </a:t>
            </a:r>
            <a:r>
              <a:rPr lang="en-US" sz="4400" b="1" dirty="0" err="1" smtClean="0">
                <a:solidFill>
                  <a:srgbClr val="0F2B42"/>
                </a:solidFill>
              </a:rPr>
              <a:t>semana</a:t>
            </a:r>
            <a:endParaRPr lang="en-US" sz="4400" b="1" dirty="0">
              <a:solidFill>
                <a:srgbClr val="0F2B42"/>
              </a:solidFill>
            </a:endParaRPr>
          </a:p>
        </p:txBody>
      </p:sp>
      <p:sp>
        <p:nvSpPr>
          <p:cNvPr id="17" name="Freeform 5"/>
          <p:cNvSpPr/>
          <p:nvPr/>
        </p:nvSpPr>
        <p:spPr>
          <a:xfrm flipH="1" flipV="1">
            <a:off x="-1128076" y="-377953"/>
            <a:ext cx="2256151" cy="2001822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4118444" y="3654183"/>
                </a:moveTo>
                <a:lnTo>
                  <a:pt x="0" y="3654183"/>
                </a:lnTo>
                <a:lnTo>
                  <a:pt x="0" y="0"/>
                </a:lnTo>
                <a:lnTo>
                  <a:pt x="4118444" y="0"/>
                </a:lnTo>
                <a:lnTo>
                  <a:pt x="4118444" y="365418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Freeform 4"/>
          <p:cNvSpPr/>
          <p:nvPr/>
        </p:nvSpPr>
        <p:spPr>
          <a:xfrm>
            <a:off x="10981640" y="5102352"/>
            <a:ext cx="2420719" cy="2147838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0" y="0"/>
                </a:moveTo>
                <a:lnTo>
                  <a:pt x="4118443" y="0"/>
                </a:lnTo>
                <a:lnTo>
                  <a:pt x="4118443" y="3654183"/>
                </a:lnTo>
                <a:lnTo>
                  <a:pt x="0" y="36541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9" name="Group 6"/>
          <p:cNvGrpSpPr/>
          <p:nvPr/>
        </p:nvGrpSpPr>
        <p:grpSpPr>
          <a:xfrm>
            <a:off x="10791515" y="0"/>
            <a:ext cx="1400485" cy="897768"/>
            <a:chOff x="0" y="0"/>
            <a:chExt cx="368852" cy="236449"/>
          </a:xfrm>
        </p:grpSpPr>
        <p:sp>
          <p:nvSpPr>
            <p:cNvPr id="22" name="Freeform 7"/>
            <p:cNvSpPr/>
            <p:nvPr/>
          </p:nvSpPr>
          <p:spPr>
            <a:xfrm>
              <a:off x="0" y="0"/>
              <a:ext cx="368852" cy="236449"/>
            </a:xfrm>
            <a:custGeom>
              <a:avLst/>
              <a:gdLst/>
              <a:ahLst/>
              <a:cxnLst/>
              <a:rect l="l" t="t" r="r" b="b"/>
              <a:pathLst>
                <a:path w="368852" h="236449">
                  <a:moveTo>
                    <a:pt x="0" y="0"/>
                  </a:moveTo>
                  <a:lnTo>
                    <a:pt x="368852" y="0"/>
                  </a:lnTo>
                  <a:lnTo>
                    <a:pt x="368852" y="236449"/>
                  </a:lnTo>
                  <a:lnTo>
                    <a:pt x="0" y="236449"/>
                  </a:lnTo>
                  <a:lnTo>
                    <a:pt x="0" y="0"/>
                  </a:lnTo>
                </a:path>
              </a:pathLst>
            </a:custGeom>
            <a:solidFill>
              <a:srgbClr val="0F2B42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8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32" name="Imagen 31">
            <a:extLst>
              <a:ext uri="{FF2B5EF4-FFF2-40B4-BE49-F238E27FC236}">
                <a16:creationId xmlns:a16="http://schemas.microsoft.com/office/drawing/2014/main" id="{6C9D4142-BE72-6780-A8C4-A4191392B31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09" t="32214" r="15107" b="38473"/>
          <a:stretch/>
        </p:blipFill>
        <p:spPr>
          <a:xfrm>
            <a:off x="8112768" y="0"/>
            <a:ext cx="2678747" cy="897768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584637" y="1548332"/>
            <a:ext cx="10848168" cy="3866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524" spc="247" dirty="0" smtClean="0">
                <a:solidFill>
                  <a:srgbClr val="0F2B42"/>
                </a:solidFill>
              </a:rPr>
              <a:t>Desarrollo de microservicios</a:t>
            </a:r>
            <a:r>
              <a:rPr lang="es-ES" sz="2524" spc="247" dirty="0">
                <a:solidFill>
                  <a:srgbClr val="0F2B42"/>
                </a:solidFill>
              </a:rPr>
              <a:t>: Spring Boot </a:t>
            </a:r>
            <a:r>
              <a:rPr lang="es-ES" sz="2524" spc="247" dirty="0" err="1">
                <a:solidFill>
                  <a:srgbClr val="0F2B42"/>
                </a:solidFill>
              </a:rPr>
              <a:t>Starters</a:t>
            </a:r>
            <a:r>
              <a:rPr lang="es-ES" sz="2524" spc="247" dirty="0">
                <a:solidFill>
                  <a:srgbClr val="0F2B42"/>
                </a:solidFill>
              </a:rPr>
              <a:t>.</a:t>
            </a:r>
            <a:endParaRPr lang="es-ES" sz="2524" spc="247" dirty="0" smtClean="0">
              <a:solidFill>
                <a:srgbClr val="0F2B42"/>
              </a:solidFill>
            </a:endParaRPr>
          </a:p>
          <a:p>
            <a:endParaRPr lang="es-ES" sz="2000" spc="247" dirty="0" smtClean="0">
              <a:solidFill>
                <a:srgbClr val="0F2B42"/>
              </a:solidFill>
            </a:endParaRPr>
          </a:p>
          <a:p>
            <a:endParaRPr lang="es-ES" sz="2000" spc="247" dirty="0" smtClean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Conjunto </a:t>
            </a:r>
            <a:r>
              <a:rPr lang="es-ES" sz="2000" spc="247" dirty="0">
                <a:solidFill>
                  <a:srgbClr val="0F2B42"/>
                </a:solidFill>
              </a:rPr>
              <a:t>de dependencias </a:t>
            </a:r>
            <a:r>
              <a:rPr lang="es-ES" sz="2000" spc="247" dirty="0" smtClean="0">
                <a:solidFill>
                  <a:srgbClr val="0F2B42"/>
                </a:solidFill>
              </a:rPr>
              <a:t>preconfiguradas.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Simplifican </a:t>
            </a:r>
            <a:r>
              <a:rPr lang="es-ES" sz="2000" spc="247" dirty="0">
                <a:solidFill>
                  <a:srgbClr val="0F2B42"/>
                </a:solidFill>
              </a:rPr>
              <a:t>la configuración de </a:t>
            </a:r>
            <a:r>
              <a:rPr lang="es-ES" sz="2000" spc="247" dirty="0" smtClean="0">
                <a:solidFill>
                  <a:srgbClr val="0F2B42"/>
                </a:solidFill>
              </a:rPr>
              <a:t>Spring.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Evitan </a:t>
            </a:r>
            <a:r>
              <a:rPr lang="es-ES" sz="2000" spc="247" dirty="0">
                <a:solidFill>
                  <a:srgbClr val="0F2B42"/>
                </a:solidFill>
              </a:rPr>
              <a:t>instalar librerías una por </a:t>
            </a:r>
            <a:r>
              <a:rPr lang="es-ES" sz="2000" spc="247" dirty="0" smtClean="0">
                <a:solidFill>
                  <a:srgbClr val="0F2B42"/>
                </a:solidFill>
              </a:rPr>
              <a:t>una.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spc="247" dirty="0">
              <a:solidFill>
                <a:srgbClr val="0F2B42"/>
              </a:solidFill>
            </a:endParaRPr>
          </a:p>
          <a:p>
            <a:r>
              <a:rPr lang="es-ES" sz="2000" spc="247" dirty="0" smtClean="0">
                <a:solidFill>
                  <a:srgbClr val="0F2B42"/>
                </a:solidFill>
              </a:rPr>
              <a:t>Ejemplos</a:t>
            </a:r>
          </a:p>
          <a:p>
            <a:endParaRPr lang="es-ES" sz="2000" spc="247" dirty="0" smtClean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err="1" smtClean="0">
                <a:solidFill>
                  <a:srgbClr val="0F2B42"/>
                </a:solidFill>
              </a:rPr>
              <a:t>spring</a:t>
            </a:r>
            <a:r>
              <a:rPr lang="es-ES" sz="2000" spc="247" dirty="0" smtClean="0">
                <a:solidFill>
                  <a:srgbClr val="0F2B42"/>
                </a:solidFill>
              </a:rPr>
              <a:t>-</a:t>
            </a:r>
            <a:r>
              <a:rPr lang="es-ES" sz="2000" spc="247" dirty="0" err="1" smtClean="0">
                <a:solidFill>
                  <a:srgbClr val="0F2B42"/>
                </a:solidFill>
              </a:rPr>
              <a:t>boot</a:t>
            </a:r>
            <a:r>
              <a:rPr lang="es-ES" sz="2000" spc="247" dirty="0" smtClean="0">
                <a:solidFill>
                  <a:srgbClr val="0F2B42"/>
                </a:solidFill>
              </a:rPr>
              <a:t>-starter-web: </a:t>
            </a:r>
            <a:r>
              <a:rPr lang="es-ES" sz="2000" spc="247" dirty="0">
                <a:solidFill>
                  <a:srgbClr val="0F2B42"/>
                </a:solidFill>
              </a:rPr>
              <a:t>APIs </a:t>
            </a:r>
            <a:r>
              <a:rPr lang="es-ES" sz="2000" spc="247" dirty="0" smtClean="0">
                <a:solidFill>
                  <a:srgbClr val="0F2B42"/>
                </a:solidFill>
              </a:rPr>
              <a:t>REST.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err="1" smtClean="0">
                <a:solidFill>
                  <a:srgbClr val="0F2B42"/>
                </a:solidFill>
              </a:rPr>
              <a:t>spring</a:t>
            </a:r>
            <a:r>
              <a:rPr lang="es-ES" sz="2000" spc="247" dirty="0" smtClean="0">
                <a:solidFill>
                  <a:srgbClr val="0F2B42"/>
                </a:solidFill>
              </a:rPr>
              <a:t>-</a:t>
            </a:r>
            <a:r>
              <a:rPr lang="es-ES" sz="2000" spc="247" dirty="0" err="1" smtClean="0">
                <a:solidFill>
                  <a:srgbClr val="0F2B42"/>
                </a:solidFill>
              </a:rPr>
              <a:t>boot</a:t>
            </a:r>
            <a:r>
              <a:rPr lang="es-ES" sz="2000" spc="247" dirty="0" smtClean="0">
                <a:solidFill>
                  <a:srgbClr val="0F2B42"/>
                </a:solidFill>
              </a:rPr>
              <a:t>-starter-</a:t>
            </a:r>
            <a:r>
              <a:rPr lang="es-ES" sz="2000" spc="247" dirty="0" err="1" smtClean="0">
                <a:solidFill>
                  <a:srgbClr val="0F2B42"/>
                </a:solidFill>
              </a:rPr>
              <a:t>validation</a:t>
            </a:r>
            <a:r>
              <a:rPr lang="es-ES" sz="2000" spc="247" dirty="0">
                <a:solidFill>
                  <a:srgbClr val="0F2B42"/>
                </a:solidFill>
              </a:rPr>
              <a:t>:</a:t>
            </a:r>
            <a:r>
              <a:rPr lang="es-ES" sz="2000" spc="247" dirty="0" smtClean="0">
                <a:solidFill>
                  <a:srgbClr val="0F2B42"/>
                </a:solidFill>
              </a:rPr>
              <a:t> validaciones.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err="1" smtClean="0">
                <a:solidFill>
                  <a:srgbClr val="0F2B42"/>
                </a:solidFill>
              </a:rPr>
              <a:t>spring</a:t>
            </a:r>
            <a:r>
              <a:rPr lang="es-ES" sz="2000" spc="247" dirty="0" smtClean="0">
                <a:solidFill>
                  <a:srgbClr val="0F2B42"/>
                </a:solidFill>
              </a:rPr>
              <a:t>-</a:t>
            </a:r>
            <a:r>
              <a:rPr lang="es-ES" sz="2000" spc="247" dirty="0" err="1" smtClean="0">
                <a:solidFill>
                  <a:srgbClr val="0F2B42"/>
                </a:solidFill>
              </a:rPr>
              <a:t>boot</a:t>
            </a:r>
            <a:r>
              <a:rPr lang="es-ES" sz="2000" spc="247" dirty="0" smtClean="0">
                <a:solidFill>
                  <a:srgbClr val="0F2B42"/>
                </a:solidFill>
              </a:rPr>
              <a:t>-starter-data-</a:t>
            </a:r>
            <a:r>
              <a:rPr lang="es-ES" sz="2000" spc="247" dirty="0" err="1" smtClean="0">
                <a:solidFill>
                  <a:srgbClr val="0F2B42"/>
                </a:solidFill>
              </a:rPr>
              <a:t>jpa</a:t>
            </a:r>
            <a:r>
              <a:rPr lang="es-ES" sz="2000" spc="247" dirty="0">
                <a:solidFill>
                  <a:srgbClr val="0F2B42"/>
                </a:solidFill>
              </a:rPr>
              <a:t>:</a:t>
            </a:r>
            <a:r>
              <a:rPr lang="es-ES" sz="2000" spc="247" dirty="0" smtClean="0">
                <a:solidFill>
                  <a:srgbClr val="0F2B42"/>
                </a:solidFill>
              </a:rPr>
              <a:t> </a:t>
            </a:r>
            <a:r>
              <a:rPr lang="es-ES" sz="2000" spc="247" dirty="0">
                <a:solidFill>
                  <a:srgbClr val="0F2B42"/>
                </a:solidFill>
              </a:rPr>
              <a:t>base de datos.</a:t>
            </a:r>
            <a:endParaRPr lang="es-ES" sz="2000" spc="247" dirty="0" smtClean="0">
              <a:solidFill>
                <a:srgbClr val="0F2B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9026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18">
            <a:extLst>
              <a:ext uri="{FF2B5EF4-FFF2-40B4-BE49-F238E27FC236}">
                <a16:creationId xmlns:a16="http://schemas.microsoft.com/office/drawing/2014/main" id="{D5B04949-1244-385E-1A7C-D2288AD2AC2B}"/>
              </a:ext>
            </a:extLst>
          </p:cNvPr>
          <p:cNvSpPr txBox="1"/>
          <p:nvPr/>
        </p:nvSpPr>
        <p:spPr>
          <a:xfrm>
            <a:off x="1506482" y="448667"/>
            <a:ext cx="9624009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66"/>
              </a:lnSpc>
            </a:pPr>
            <a:r>
              <a:rPr lang="en-US" sz="4400" b="1" dirty="0" err="1" smtClean="0">
                <a:solidFill>
                  <a:srgbClr val="0F2B42"/>
                </a:solidFill>
              </a:rPr>
              <a:t>Temáticas</a:t>
            </a:r>
            <a:r>
              <a:rPr lang="en-US" sz="4400" b="1" dirty="0" smtClean="0">
                <a:solidFill>
                  <a:srgbClr val="0F2B42"/>
                </a:solidFill>
              </a:rPr>
              <a:t> clave de la </a:t>
            </a:r>
            <a:r>
              <a:rPr lang="en-US" sz="4400" b="1" dirty="0" err="1" smtClean="0">
                <a:solidFill>
                  <a:srgbClr val="0F2B42"/>
                </a:solidFill>
              </a:rPr>
              <a:t>semana</a:t>
            </a:r>
            <a:endParaRPr lang="en-US" sz="4400" b="1" dirty="0">
              <a:solidFill>
                <a:srgbClr val="0F2B42"/>
              </a:solidFill>
            </a:endParaRPr>
          </a:p>
        </p:txBody>
      </p:sp>
      <p:sp>
        <p:nvSpPr>
          <p:cNvPr id="17" name="Freeform 5"/>
          <p:cNvSpPr/>
          <p:nvPr/>
        </p:nvSpPr>
        <p:spPr>
          <a:xfrm flipH="1" flipV="1">
            <a:off x="-1128076" y="-377953"/>
            <a:ext cx="2256151" cy="2001822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4118444" y="3654183"/>
                </a:moveTo>
                <a:lnTo>
                  <a:pt x="0" y="3654183"/>
                </a:lnTo>
                <a:lnTo>
                  <a:pt x="0" y="0"/>
                </a:lnTo>
                <a:lnTo>
                  <a:pt x="4118444" y="0"/>
                </a:lnTo>
                <a:lnTo>
                  <a:pt x="4118444" y="365418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Freeform 4"/>
          <p:cNvSpPr/>
          <p:nvPr/>
        </p:nvSpPr>
        <p:spPr>
          <a:xfrm>
            <a:off x="10981640" y="5102352"/>
            <a:ext cx="2420719" cy="2147838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0" y="0"/>
                </a:moveTo>
                <a:lnTo>
                  <a:pt x="4118443" y="0"/>
                </a:lnTo>
                <a:lnTo>
                  <a:pt x="4118443" y="3654183"/>
                </a:lnTo>
                <a:lnTo>
                  <a:pt x="0" y="36541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9" name="Group 6"/>
          <p:cNvGrpSpPr/>
          <p:nvPr/>
        </p:nvGrpSpPr>
        <p:grpSpPr>
          <a:xfrm>
            <a:off x="10791515" y="0"/>
            <a:ext cx="1400485" cy="897768"/>
            <a:chOff x="0" y="0"/>
            <a:chExt cx="368852" cy="236449"/>
          </a:xfrm>
        </p:grpSpPr>
        <p:sp>
          <p:nvSpPr>
            <p:cNvPr id="22" name="Freeform 7"/>
            <p:cNvSpPr/>
            <p:nvPr/>
          </p:nvSpPr>
          <p:spPr>
            <a:xfrm>
              <a:off x="0" y="0"/>
              <a:ext cx="368852" cy="236449"/>
            </a:xfrm>
            <a:custGeom>
              <a:avLst/>
              <a:gdLst/>
              <a:ahLst/>
              <a:cxnLst/>
              <a:rect l="l" t="t" r="r" b="b"/>
              <a:pathLst>
                <a:path w="368852" h="236449">
                  <a:moveTo>
                    <a:pt x="0" y="0"/>
                  </a:moveTo>
                  <a:lnTo>
                    <a:pt x="368852" y="0"/>
                  </a:lnTo>
                  <a:lnTo>
                    <a:pt x="368852" y="236449"/>
                  </a:lnTo>
                  <a:lnTo>
                    <a:pt x="0" y="236449"/>
                  </a:lnTo>
                  <a:lnTo>
                    <a:pt x="0" y="0"/>
                  </a:lnTo>
                </a:path>
              </a:pathLst>
            </a:custGeom>
            <a:solidFill>
              <a:srgbClr val="0F2B42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8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32" name="Imagen 31">
            <a:extLst>
              <a:ext uri="{FF2B5EF4-FFF2-40B4-BE49-F238E27FC236}">
                <a16:creationId xmlns:a16="http://schemas.microsoft.com/office/drawing/2014/main" id="{6C9D4142-BE72-6780-A8C4-A4191392B31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09" t="32214" r="15107" b="38473"/>
          <a:stretch/>
        </p:blipFill>
        <p:spPr>
          <a:xfrm>
            <a:off x="8112768" y="0"/>
            <a:ext cx="2678747" cy="897768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590499" y="1452802"/>
            <a:ext cx="10848168" cy="4789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524" spc="247" dirty="0" smtClean="0">
                <a:solidFill>
                  <a:srgbClr val="0F2B42"/>
                </a:solidFill>
              </a:rPr>
              <a:t>Desarrollo de microservicios</a:t>
            </a:r>
            <a:r>
              <a:rPr lang="es-ES" sz="2524" spc="247" dirty="0">
                <a:solidFill>
                  <a:srgbClr val="0F2B42"/>
                </a:solidFill>
              </a:rPr>
              <a:t>: </a:t>
            </a:r>
            <a:r>
              <a:rPr lang="es-ES" sz="2524" spc="247" dirty="0" err="1">
                <a:solidFill>
                  <a:srgbClr val="0F2B42"/>
                </a:solidFill>
              </a:rPr>
              <a:t>Lombok</a:t>
            </a:r>
            <a:r>
              <a:rPr lang="es-ES" sz="2524" spc="247" dirty="0">
                <a:solidFill>
                  <a:srgbClr val="0F2B42"/>
                </a:solidFill>
              </a:rPr>
              <a:t>.</a:t>
            </a:r>
            <a:endParaRPr lang="es-ES" sz="2524" spc="247" dirty="0" smtClean="0">
              <a:solidFill>
                <a:srgbClr val="0F2B42"/>
              </a:solidFill>
            </a:endParaRPr>
          </a:p>
          <a:p>
            <a:endParaRPr lang="es-ES" sz="2000" spc="247" dirty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Librería </a:t>
            </a:r>
            <a:r>
              <a:rPr lang="es-ES" sz="2000" spc="247" dirty="0">
                <a:solidFill>
                  <a:srgbClr val="0F2B42"/>
                </a:solidFill>
              </a:rPr>
              <a:t>que reduce código </a:t>
            </a:r>
            <a:r>
              <a:rPr lang="es-ES" sz="2000" spc="247" dirty="0" smtClean="0">
                <a:solidFill>
                  <a:srgbClr val="0F2B42"/>
                </a:solidFill>
              </a:rPr>
              <a:t>repetitivo.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Genera </a:t>
            </a:r>
            <a:r>
              <a:rPr lang="es-ES" sz="2000" spc="247" dirty="0">
                <a:solidFill>
                  <a:srgbClr val="0F2B42"/>
                </a:solidFill>
              </a:rPr>
              <a:t>código automáticamente en </a:t>
            </a:r>
            <a:r>
              <a:rPr lang="es-ES" sz="2000" spc="247" dirty="0" smtClean="0">
                <a:solidFill>
                  <a:srgbClr val="0F2B42"/>
                </a:solidFill>
              </a:rPr>
              <a:t>compilación.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spc="247" dirty="0">
              <a:solidFill>
                <a:srgbClr val="0F2B42"/>
              </a:solidFill>
            </a:endParaRPr>
          </a:p>
          <a:p>
            <a:r>
              <a:rPr lang="es-ES" sz="2000" spc="247" dirty="0" smtClean="0">
                <a:solidFill>
                  <a:srgbClr val="0F2B42"/>
                </a:solidFill>
              </a:rPr>
              <a:t>Anotaciones </a:t>
            </a:r>
            <a:r>
              <a:rPr lang="es-ES" sz="2000" spc="247" dirty="0">
                <a:solidFill>
                  <a:srgbClr val="0F2B42"/>
                </a:solidFill>
              </a:rPr>
              <a:t>más </a:t>
            </a:r>
            <a:r>
              <a:rPr lang="es-ES" sz="2000" spc="247" dirty="0" smtClean="0">
                <a:solidFill>
                  <a:srgbClr val="0F2B42"/>
                </a:solidFill>
              </a:rPr>
              <a:t>usadas.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@Data: </a:t>
            </a:r>
            <a:r>
              <a:rPr lang="es-ES" sz="2000" spc="247" dirty="0" err="1">
                <a:solidFill>
                  <a:srgbClr val="0F2B42"/>
                </a:solidFill>
              </a:rPr>
              <a:t>getters</a:t>
            </a:r>
            <a:r>
              <a:rPr lang="es-ES" sz="2000" spc="247" dirty="0">
                <a:solidFill>
                  <a:srgbClr val="0F2B42"/>
                </a:solidFill>
              </a:rPr>
              <a:t>, </a:t>
            </a:r>
            <a:r>
              <a:rPr lang="es-ES" sz="2000" spc="247" dirty="0" err="1">
                <a:solidFill>
                  <a:srgbClr val="0F2B42"/>
                </a:solidFill>
              </a:rPr>
              <a:t>setters</a:t>
            </a:r>
            <a:r>
              <a:rPr lang="es-ES" sz="2000" spc="247" dirty="0">
                <a:solidFill>
                  <a:srgbClr val="0F2B42"/>
                </a:solidFill>
              </a:rPr>
              <a:t>, </a:t>
            </a:r>
            <a:r>
              <a:rPr lang="es-ES" sz="2000" spc="247" dirty="0" err="1" smtClean="0">
                <a:solidFill>
                  <a:srgbClr val="0F2B42"/>
                </a:solidFill>
              </a:rPr>
              <a:t>toString</a:t>
            </a:r>
            <a:r>
              <a:rPr lang="es-ES" sz="2000" spc="247" dirty="0" smtClean="0">
                <a:solidFill>
                  <a:srgbClr val="0F2B42"/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@</a:t>
            </a:r>
            <a:r>
              <a:rPr lang="es-ES" sz="2000" spc="247" dirty="0" err="1" smtClean="0">
                <a:solidFill>
                  <a:srgbClr val="0F2B42"/>
                </a:solidFill>
              </a:rPr>
              <a:t>Builder</a:t>
            </a:r>
            <a:r>
              <a:rPr lang="es-ES" sz="2000" spc="247" dirty="0">
                <a:solidFill>
                  <a:srgbClr val="0F2B42"/>
                </a:solidFill>
              </a:rPr>
              <a:t>:</a:t>
            </a:r>
            <a:r>
              <a:rPr lang="es-ES" sz="2000" spc="247" dirty="0" smtClean="0">
                <a:solidFill>
                  <a:srgbClr val="0F2B42"/>
                </a:solidFill>
              </a:rPr>
              <a:t> </a:t>
            </a:r>
            <a:r>
              <a:rPr lang="es-ES" sz="2000" spc="247" dirty="0">
                <a:solidFill>
                  <a:srgbClr val="0F2B42"/>
                </a:solidFill>
              </a:rPr>
              <a:t>construcción de </a:t>
            </a:r>
            <a:r>
              <a:rPr lang="es-ES" sz="2000" spc="247" dirty="0" smtClean="0">
                <a:solidFill>
                  <a:srgbClr val="0F2B42"/>
                </a:solidFill>
              </a:rPr>
              <a:t>objetos.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@</a:t>
            </a:r>
            <a:r>
              <a:rPr lang="es-ES" sz="2000" spc="247" dirty="0" err="1" smtClean="0">
                <a:solidFill>
                  <a:srgbClr val="0F2B42"/>
                </a:solidFill>
              </a:rPr>
              <a:t>NoArgsConstructor</a:t>
            </a:r>
            <a:r>
              <a:rPr lang="es-ES" sz="2000" spc="247" dirty="0" smtClean="0">
                <a:solidFill>
                  <a:srgbClr val="0F2B42"/>
                </a:solidFill>
              </a:rPr>
              <a:t>: agrega un constructor sin parámetros.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@</a:t>
            </a:r>
            <a:r>
              <a:rPr lang="es-ES" sz="2000" spc="247" dirty="0" err="1" smtClean="0">
                <a:solidFill>
                  <a:srgbClr val="0F2B42"/>
                </a:solidFill>
              </a:rPr>
              <a:t>AllArgsConstructor</a:t>
            </a:r>
            <a:r>
              <a:rPr lang="es-ES" sz="2000" spc="247" dirty="0" smtClean="0">
                <a:solidFill>
                  <a:srgbClr val="0F2B42"/>
                </a:solidFill>
              </a:rPr>
              <a:t>: </a:t>
            </a:r>
            <a:r>
              <a:rPr lang="es-ES" sz="2000" spc="247" dirty="0">
                <a:solidFill>
                  <a:srgbClr val="0F2B42"/>
                </a:solidFill>
              </a:rPr>
              <a:t>agrega un constructor </a:t>
            </a:r>
            <a:r>
              <a:rPr lang="es-ES" sz="2000" spc="247" dirty="0" smtClean="0">
                <a:solidFill>
                  <a:srgbClr val="0F2B42"/>
                </a:solidFill>
              </a:rPr>
              <a:t>con todos los parámetros.</a:t>
            </a:r>
          </a:p>
          <a:p>
            <a:endParaRPr lang="es-ES" sz="2000" spc="247" dirty="0" smtClean="0">
              <a:solidFill>
                <a:srgbClr val="0F2B42"/>
              </a:solidFill>
            </a:endParaRPr>
          </a:p>
          <a:p>
            <a:r>
              <a:rPr lang="es-ES" sz="2000" spc="247" dirty="0" smtClean="0">
                <a:solidFill>
                  <a:srgbClr val="0F2B42"/>
                </a:solidFill>
              </a:rPr>
              <a:t>Ventajas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Código </a:t>
            </a:r>
            <a:r>
              <a:rPr lang="es-ES" sz="2000" spc="247" dirty="0">
                <a:solidFill>
                  <a:srgbClr val="0F2B42"/>
                </a:solidFill>
              </a:rPr>
              <a:t>más </a:t>
            </a:r>
            <a:r>
              <a:rPr lang="es-ES" sz="2000" spc="247" dirty="0" smtClean="0">
                <a:solidFill>
                  <a:srgbClr val="0F2B42"/>
                </a:solidFill>
              </a:rPr>
              <a:t>limpio.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Menos errores.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Mayor </a:t>
            </a:r>
            <a:r>
              <a:rPr lang="es-ES" sz="2000" spc="247" dirty="0">
                <a:solidFill>
                  <a:srgbClr val="0F2B42"/>
                </a:solidFill>
              </a:rPr>
              <a:t>productividad.</a:t>
            </a:r>
            <a:endParaRPr lang="es-ES" sz="2000" spc="247" dirty="0" smtClean="0">
              <a:solidFill>
                <a:srgbClr val="0F2B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6877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18">
            <a:extLst>
              <a:ext uri="{FF2B5EF4-FFF2-40B4-BE49-F238E27FC236}">
                <a16:creationId xmlns:a16="http://schemas.microsoft.com/office/drawing/2014/main" id="{D5B04949-1244-385E-1A7C-D2288AD2AC2B}"/>
              </a:ext>
            </a:extLst>
          </p:cNvPr>
          <p:cNvSpPr txBox="1"/>
          <p:nvPr/>
        </p:nvSpPr>
        <p:spPr>
          <a:xfrm>
            <a:off x="1506482" y="448667"/>
            <a:ext cx="9624009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66"/>
              </a:lnSpc>
            </a:pPr>
            <a:r>
              <a:rPr lang="en-US" sz="4400" b="1" dirty="0" err="1" smtClean="0">
                <a:solidFill>
                  <a:srgbClr val="0F2B42"/>
                </a:solidFill>
              </a:rPr>
              <a:t>Temáticas</a:t>
            </a:r>
            <a:r>
              <a:rPr lang="en-US" sz="4400" b="1" dirty="0" smtClean="0">
                <a:solidFill>
                  <a:srgbClr val="0F2B42"/>
                </a:solidFill>
              </a:rPr>
              <a:t> clave de la </a:t>
            </a:r>
            <a:r>
              <a:rPr lang="en-US" sz="4400" b="1" dirty="0" err="1" smtClean="0">
                <a:solidFill>
                  <a:srgbClr val="0F2B42"/>
                </a:solidFill>
              </a:rPr>
              <a:t>semana</a:t>
            </a:r>
            <a:endParaRPr lang="en-US" sz="4400" b="1" dirty="0">
              <a:solidFill>
                <a:srgbClr val="0F2B42"/>
              </a:solidFill>
            </a:endParaRPr>
          </a:p>
        </p:txBody>
      </p:sp>
      <p:sp>
        <p:nvSpPr>
          <p:cNvPr id="17" name="Freeform 5"/>
          <p:cNvSpPr/>
          <p:nvPr/>
        </p:nvSpPr>
        <p:spPr>
          <a:xfrm flipH="1" flipV="1">
            <a:off x="-1128076" y="-377953"/>
            <a:ext cx="2256151" cy="2001822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4118444" y="3654183"/>
                </a:moveTo>
                <a:lnTo>
                  <a:pt x="0" y="3654183"/>
                </a:lnTo>
                <a:lnTo>
                  <a:pt x="0" y="0"/>
                </a:lnTo>
                <a:lnTo>
                  <a:pt x="4118444" y="0"/>
                </a:lnTo>
                <a:lnTo>
                  <a:pt x="4118444" y="365418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Freeform 4"/>
          <p:cNvSpPr/>
          <p:nvPr/>
        </p:nvSpPr>
        <p:spPr>
          <a:xfrm>
            <a:off x="10981640" y="5102352"/>
            <a:ext cx="2420719" cy="2147838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0" y="0"/>
                </a:moveTo>
                <a:lnTo>
                  <a:pt x="4118443" y="0"/>
                </a:lnTo>
                <a:lnTo>
                  <a:pt x="4118443" y="3654183"/>
                </a:lnTo>
                <a:lnTo>
                  <a:pt x="0" y="36541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9" name="Group 6"/>
          <p:cNvGrpSpPr/>
          <p:nvPr/>
        </p:nvGrpSpPr>
        <p:grpSpPr>
          <a:xfrm>
            <a:off x="10791515" y="0"/>
            <a:ext cx="1400485" cy="897768"/>
            <a:chOff x="0" y="0"/>
            <a:chExt cx="368852" cy="236449"/>
          </a:xfrm>
        </p:grpSpPr>
        <p:sp>
          <p:nvSpPr>
            <p:cNvPr id="22" name="Freeform 7"/>
            <p:cNvSpPr/>
            <p:nvPr/>
          </p:nvSpPr>
          <p:spPr>
            <a:xfrm>
              <a:off x="0" y="0"/>
              <a:ext cx="368852" cy="236449"/>
            </a:xfrm>
            <a:custGeom>
              <a:avLst/>
              <a:gdLst/>
              <a:ahLst/>
              <a:cxnLst/>
              <a:rect l="l" t="t" r="r" b="b"/>
              <a:pathLst>
                <a:path w="368852" h="236449">
                  <a:moveTo>
                    <a:pt x="0" y="0"/>
                  </a:moveTo>
                  <a:lnTo>
                    <a:pt x="368852" y="0"/>
                  </a:lnTo>
                  <a:lnTo>
                    <a:pt x="368852" y="236449"/>
                  </a:lnTo>
                  <a:lnTo>
                    <a:pt x="0" y="236449"/>
                  </a:lnTo>
                  <a:lnTo>
                    <a:pt x="0" y="0"/>
                  </a:lnTo>
                </a:path>
              </a:pathLst>
            </a:custGeom>
            <a:solidFill>
              <a:srgbClr val="0F2B42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8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32" name="Imagen 31">
            <a:extLst>
              <a:ext uri="{FF2B5EF4-FFF2-40B4-BE49-F238E27FC236}">
                <a16:creationId xmlns:a16="http://schemas.microsoft.com/office/drawing/2014/main" id="{6C9D4142-BE72-6780-A8C4-A4191392B31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09" t="32214" r="15107" b="38473"/>
          <a:stretch/>
        </p:blipFill>
        <p:spPr>
          <a:xfrm>
            <a:off x="8112768" y="0"/>
            <a:ext cx="2678747" cy="897768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590499" y="1452802"/>
            <a:ext cx="10848168" cy="4789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524" spc="247" dirty="0" smtClean="0">
                <a:solidFill>
                  <a:srgbClr val="0F2B42"/>
                </a:solidFill>
              </a:rPr>
              <a:t>Desarrollo de microservicios</a:t>
            </a:r>
            <a:r>
              <a:rPr lang="es-ES" sz="2524" spc="247" dirty="0">
                <a:solidFill>
                  <a:srgbClr val="0F2B42"/>
                </a:solidFill>
              </a:rPr>
              <a:t>: Validación en </a:t>
            </a:r>
            <a:r>
              <a:rPr lang="es-ES" sz="2524" spc="247" dirty="0" err="1">
                <a:solidFill>
                  <a:srgbClr val="0F2B42"/>
                </a:solidFill>
              </a:rPr>
              <a:t>Controllers</a:t>
            </a:r>
            <a:r>
              <a:rPr lang="es-ES" sz="2524" spc="247" dirty="0">
                <a:solidFill>
                  <a:srgbClr val="0F2B42"/>
                </a:solidFill>
              </a:rPr>
              <a:t>.</a:t>
            </a:r>
            <a:endParaRPr lang="es-ES" sz="2524" spc="247" dirty="0" smtClean="0">
              <a:solidFill>
                <a:srgbClr val="0F2B42"/>
              </a:solidFill>
            </a:endParaRPr>
          </a:p>
          <a:p>
            <a:endParaRPr lang="es-ES" sz="2000" spc="247" dirty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>
                <a:solidFill>
                  <a:srgbClr val="0F2B42"/>
                </a:solidFill>
              </a:rPr>
              <a:t>Permite asegurar que los datos sean </a:t>
            </a:r>
            <a:r>
              <a:rPr lang="es-ES" sz="2000" spc="247" dirty="0" smtClean="0">
                <a:solidFill>
                  <a:srgbClr val="0F2B42"/>
                </a:solidFill>
              </a:rPr>
              <a:t>correctos.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Se </a:t>
            </a:r>
            <a:r>
              <a:rPr lang="es-ES" sz="2000" spc="247" dirty="0">
                <a:solidFill>
                  <a:srgbClr val="0F2B42"/>
                </a:solidFill>
              </a:rPr>
              <a:t>aplica sobre </a:t>
            </a:r>
            <a:r>
              <a:rPr lang="es-ES" sz="2000" spc="247" dirty="0" err="1" smtClean="0">
                <a:solidFill>
                  <a:srgbClr val="0F2B42"/>
                </a:solidFill>
              </a:rPr>
              <a:t>DTOs</a:t>
            </a:r>
            <a:r>
              <a:rPr lang="es-ES" sz="2000" spc="247" dirty="0" smtClean="0">
                <a:solidFill>
                  <a:srgbClr val="0F2B42"/>
                </a:solidFill>
              </a:rPr>
              <a:t>.</a:t>
            </a:r>
          </a:p>
          <a:p>
            <a:endParaRPr lang="es-ES" sz="2000" spc="247" dirty="0" smtClean="0">
              <a:solidFill>
                <a:srgbClr val="0F2B42"/>
              </a:solidFill>
            </a:endParaRPr>
          </a:p>
          <a:p>
            <a:r>
              <a:rPr lang="es-ES" sz="2000" spc="247" dirty="0" smtClean="0">
                <a:solidFill>
                  <a:srgbClr val="0F2B42"/>
                </a:solidFill>
              </a:rPr>
              <a:t>Anotaciones comunes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spc="247" dirty="0" smtClean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@</a:t>
            </a:r>
            <a:r>
              <a:rPr lang="es-ES" sz="2000" spc="247" dirty="0" err="1" smtClean="0">
                <a:solidFill>
                  <a:srgbClr val="0F2B42"/>
                </a:solidFill>
              </a:rPr>
              <a:t>NotBlank</a:t>
            </a:r>
            <a:r>
              <a:rPr lang="es-ES" sz="2000" spc="247" dirty="0" smtClean="0">
                <a:solidFill>
                  <a:srgbClr val="0F2B42"/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@</a:t>
            </a:r>
            <a:r>
              <a:rPr lang="es-ES" sz="2000" spc="247" dirty="0" err="1" smtClean="0">
                <a:solidFill>
                  <a:srgbClr val="0F2B42"/>
                </a:solidFill>
              </a:rPr>
              <a:t>NotNull</a:t>
            </a:r>
            <a:r>
              <a:rPr lang="es-ES" sz="2000" spc="247" dirty="0" smtClean="0">
                <a:solidFill>
                  <a:srgbClr val="0F2B42"/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@</a:t>
            </a:r>
            <a:r>
              <a:rPr lang="es-ES" sz="2000" spc="247" dirty="0" err="1" smtClean="0">
                <a:solidFill>
                  <a:srgbClr val="0F2B42"/>
                </a:solidFill>
              </a:rPr>
              <a:t>Size</a:t>
            </a:r>
            <a:r>
              <a:rPr lang="es-ES" sz="2000" spc="247" dirty="0" smtClean="0">
                <a:solidFill>
                  <a:srgbClr val="0F2B42"/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@Email.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@</a:t>
            </a:r>
            <a:r>
              <a:rPr lang="es-ES" sz="2000" spc="247" dirty="0" err="1" smtClean="0">
                <a:solidFill>
                  <a:srgbClr val="0F2B42"/>
                </a:solidFill>
              </a:rPr>
              <a:t>Pattern</a:t>
            </a:r>
            <a:r>
              <a:rPr lang="es-ES" sz="2000" spc="247" dirty="0" smtClean="0">
                <a:solidFill>
                  <a:srgbClr val="0F2B42"/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spc="247" dirty="0">
              <a:solidFill>
                <a:srgbClr val="0F2B42"/>
              </a:solidFill>
            </a:endParaRPr>
          </a:p>
          <a:p>
            <a:r>
              <a:rPr lang="es-ES" sz="2000" spc="247" dirty="0" smtClean="0">
                <a:solidFill>
                  <a:srgbClr val="0F2B42"/>
                </a:solidFill>
              </a:rPr>
              <a:t>Activación</a:t>
            </a:r>
            <a:r>
              <a:rPr lang="es-ES" sz="2000" spc="247" dirty="0">
                <a:solidFill>
                  <a:srgbClr val="0F2B42"/>
                </a:solidFill>
              </a:rPr>
              <a:t>:</a:t>
            </a:r>
            <a:endParaRPr lang="es-ES" sz="2000" spc="247" dirty="0" smtClean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Uso </a:t>
            </a:r>
            <a:r>
              <a:rPr lang="es-ES" sz="2000" spc="247" dirty="0">
                <a:solidFill>
                  <a:srgbClr val="0F2B42"/>
                </a:solidFill>
              </a:rPr>
              <a:t>de @</a:t>
            </a:r>
            <a:r>
              <a:rPr lang="es-ES" sz="2000" spc="247" dirty="0" err="1">
                <a:solidFill>
                  <a:srgbClr val="0F2B42"/>
                </a:solidFill>
              </a:rPr>
              <a:t>Valid</a:t>
            </a:r>
            <a:r>
              <a:rPr lang="es-ES" sz="2000" spc="247" dirty="0">
                <a:solidFill>
                  <a:srgbClr val="0F2B42"/>
                </a:solidFill>
              </a:rPr>
              <a:t> en el controller</a:t>
            </a:r>
            <a:endParaRPr lang="es-ES" sz="2000" spc="247" dirty="0" smtClean="0">
              <a:solidFill>
                <a:srgbClr val="0F2B42"/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0230" y="4172173"/>
            <a:ext cx="5721349" cy="11969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21044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18">
            <a:extLst>
              <a:ext uri="{FF2B5EF4-FFF2-40B4-BE49-F238E27FC236}">
                <a16:creationId xmlns:a16="http://schemas.microsoft.com/office/drawing/2014/main" id="{D5B04949-1244-385E-1A7C-D2288AD2AC2B}"/>
              </a:ext>
            </a:extLst>
          </p:cNvPr>
          <p:cNvSpPr txBox="1"/>
          <p:nvPr/>
        </p:nvSpPr>
        <p:spPr>
          <a:xfrm>
            <a:off x="1506482" y="448667"/>
            <a:ext cx="9624009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66"/>
              </a:lnSpc>
            </a:pPr>
            <a:r>
              <a:rPr lang="en-US" sz="4400" b="1" dirty="0" err="1" smtClean="0">
                <a:solidFill>
                  <a:srgbClr val="0F2B42"/>
                </a:solidFill>
              </a:rPr>
              <a:t>Temáticas</a:t>
            </a:r>
            <a:r>
              <a:rPr lang="en-US" sz="4400" b="1" dirty="0" smtClean="0">
                <a:solidFill>
                  <a:srgbClr val="0F2B42"/>
                </a:solidFill>
              </a:rPr>
              <a:t> clave de la </a:t>
            </a:r>
            <a:r>
              <a:rPr lang="en-US" sz="4400" b="1" dirty="0" err="1" smtClean="0">
                <a:solidFill>
                  <a:srgbClr val="0F2B42"/>
                </a:solidFill>
              </a:rPr>
              <a:t>semana</a:t>
            </a:r>
            <a:endParaRPr lang="en-US" sz="4400" b="1" dirty="0">
              <a:solidFill>
                <a:srgbClr val="0F2B42"/>
              </a:solidFill>
            </a:endParaRPr>
          </a:p>
        </p:txBody>
      </p:sp>
      <p:sp>
        <p:nvSpPr>
          <p:cNvPr id="17" name="Freeform 5"/>
          <p:cNvSpPr/>
          <p:nvPr/>
        </p:nvSpPr>
        <p:spPr>
          <a:xfrm flipH="1" flipV="1">
            <a:off x="-1128076" y="-377953"/>
            <a:ext cx="2256151" cy="2001822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4118444" y="3654183"/>
                </a:moveTo>
                <a:lnTo>
                  <a:pt x="0" y="3654183"/>
                </a:lnTo>
                <a:lnTo>
                  <a:pt x="0" y="0"/>
                </a:lnTo>
                <a:lnTo>
                  <a:pt x="4118444" y="0"/>
                </a:lnTo>
                <a:lnTo>
                  <a:pt x="4118444" y="365418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Freeform 4"/>
          <p:cNvSpPr/>
          <p:nvPr/>
        </p:nvSpPr>
        <p:spPr>
          <a:xfrm>
            <a:off x="10981640" y="5102352"/>
            <a:ext cx="2420719" cy="2147838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0" y="0"/>
                </a:moveTo>
                <a:lnTo>
                  <a:pt x="4118443" y="0"/>
                </a:lnTo>
                <a:lnTo>
                  <a:pt x="4118443" y="3654183"/>
                </a:lnTo>
                <a:lnTo>
                  <a:pt x="0" y="36541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9" name="Group 6"/>
          <p:cNvGrpSpPr/>
          <p:nvPr/>
        </p:nvGrpSpPr>
        <p:grpSpPr>
          <a:xfrm>
            <a:off x="10791515" y="0"/>
            <a:ext cx="1400485" cy="897768"/>
            <a:chOff x="0" y="0"/>
            <a:chExt cx="368852" cy="236449"/>
          </a:xfrm>
        </p:grpSpPr>
        <p:sp>
          <p:nvSpPr>
            <p:cNvPr id="22" name="Freeform 7"/>
            <p:cNvSpPr/>
            <p:nvPr/>
          </p:nvSpPr>
          <p:spPr>
            <a:xfrm>
              <a:off x="0" y="0"/>
              <a:ext cx="368852" cy="236449"/>
            </a:xfrm>
            <a:custGeom>
              <a:avLst/>
              <a:gdLst/>
              <a:ahLst/>
              <a:cxnLst/>
              <a:rect l="l" t="t" r="r" b="b"/>
              <a:pathLst>
                <a:path w="368852" h="236449">
                  <a:moveTo>
                    <a:pt x="0" y="0"/>
                  </a:moveTo>
                  <a:lnTo>
                    <a:pt x="368852" y="0"/>
                  </a:lnTo>
                  <a:lnTo>
                    <a:pt x="368852" y="236449"/>
                  </a:lnTo>
                  <a:lnTo>
                    <a:pt x="0" y="236449"/>
                  </a:lnTo>
                  <a:lnTo>
                    <a:pt x="0" y="0"/>
                  </a:lnTo>
                </a:path>
              </a:pathLst>
            </a:custGeom>
            <a:solidFill>
              <a:srgbClr val="0F2B42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8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32" name="Imagen 31">
            <a:extLst>
              <a:ext uri="{FF2B5EF4-FFF2-40B4-BE49-F238E27FC236}">
                <a16:creationId xmlns:a16="http://schemas.microsoft.com/office/drawing/2014/main" id="{6C9D4142-BE72-6780-A8C4-A4191392B31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09" t="32214" r="15107" b="38473"/>
          <a:stretch/>
        </p:blipFill>
        <p:spPr>
          <a:xfrm>
            <a:off x="8112768" y="0"/>
            <a:ext cx="2678747" cy="897768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590499" y="1452802"/>
            <a:ext cx="10848168" cy="4174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524" spc="247" dirty="0" smtClean="0">
                <a:solidFill>
                  <a:srgbClr val="0F2B42"/>
                </a:solidFill>
              </a:rPr>
              <a:t>Desarrollo de microservicios</a:t>
            </a:r>
            <a:r>
              <a:rPr lang="es-ES" sz="2524" spc="247" dirty="0">
                <a:solidFill>
                  <a:srgbClr val="0F2B42"/>
                </a:solidFill>
              </a:rPr>
              <a:t>: Controller </a:t>
            </a:r>
            <a:r>
              <a:rPr lang="es-ES" sz="2524" spc="247" dirty="0" err="1">
                <a:solidFill>
                  <a:srgbClr val="0F2B42"/>
                </a:solidFill>
              </a:rPr>
              <a:t>Advice</a:t>
            </a:r>
            <a:r>
              <a:rPr lang="es-ES" sz="2524" spc="247" dirty="0">
                <a:solidFill>
                  <a:srgbClr val="0F2B42"/>
                </a:solidFill>
              </a:rPr>
              <a:t>.</a:t>
            </a:r>
            <a:endParaRPr lang="es-ES" sz="2524" spc="247" dirty="0" smtClean="0">
              <a:solidFill>
                <a:srgbClr val="0F2B42"/>
              </a:solidFill>
            </a:endParaRPr>
          </a:p>
          <a:p>
            <a:endParaRPr lang="es-ES" sz="2000" spc="247" dirty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>
                <a:solidFill>
                  <a:srgbClr val="0F2B42"/>
                </a:solidFill>
              </a:rPr>
              <a:t>Manejo global de </a:t>
            </a:r>
            <a:r>
              <a:rPr lang="es-ES" sz="2000" spc="247" dirty="0" smtClean="0">
                <a:solidFill>
                  <a:srgbClr val="0F2B42"/>
                </a:solidFill>
              </a:rPr>
              <a:t>errores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Se </a:t>
            </a:r>
            <a:r>
              <a:rPr lang="es-ES" sz="2000" spc="247" dirty="0">
                <a:solidFill>
                  <a:srgbClr val="0F2B42"/>
                </a:solidFill>
              </a:rPr>
              <a:t>aplica a toda la </a:t>
            </a:r>
            <a:r>
              <a:rPr lang="es-ES" sz="2000" spc="247" dirty="0" smtClean="0">
                <a:solidFill>
                  <a:srgbClr val="0F2B42"/>
                </a:solidFill>
              </a:rPr>
              <a:t>aplicación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spc="247" dirty="0">
              <a:solidFill>
                <a:srgbClr val="0F2B42"/>
              </a:solidFill>
            </a:endParaRPr>
          </a:p>
          <a:p>
            <a:r>
              <a:rPr lang="es-ES" sz="2000" spc="247" dirty="0" smtClean="0">
                <a:solidFill>
                  <a:srgbClr val="0F2B42"/>
                </a:solidFill>
              </a:rPr>
              <a:t>Anotación principal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@</a:t>
            </a:r>
            <a:r>
              <a:rPr lang="es-ES" sz="2000" spc="247" dirty="0" err="1" smtClean="0">
                <a:solidFill>
                  <a:srgbClr val="0F2B42"/>
                </a:solidFill>
              </a:rPr>
              <a:t>RestControllerAdvice</a:t>
            </a:r>
            <a:endParaRPr lang="es-ES" sz="2000" spc="247" dirty="0" smtClean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spc="247" dirty="0">
              <a:solidFill>
                <a:srgbClr val="0F2B42"/>
              </a:solidFill>
            </a:endParaRPr>
          </a:p>
          <a:p>
            <a:r>
              <a:rPr lang="es-ES" sz="2000" spc="247" dirty="0" smtClean="0">
                <a:solidFill>
                  <a:srgbClr val="0F2B42"/>
                </a:solidFill>
              </a:rPr>
              <a:t>Qué permite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spc="247" dirty="0">
              <a:solidFill>
                <a:srgbClr val="0F2B4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Capturar </a:t>
            </a:r>
            <a:r>
              <a:rPr lang="es-ES" sz="2000" spc="247" dirty="0">
                <a:solidFill>
                  <a:srgbClr val="0F2B42"/>
                </a:solidFill>
              </a:rPr>
              <a:t>errores </a:t>
            </a:r>
            <a:r>
              <a:rPr lang="es-ES" sz="2000" spc="247" dirty="0" smtClean="0">
                <a:solidFill>
                  <a:srgbClr val="0F2B42"/>
                </a:solidFill>
              </a:rPr>
              <a:t>automáticamente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Devolver </a:t>
            </a:r>
            <a:r>
              <a:rPr lang="es-ES" sz="2000" spc="247" dirty="0">
                <a:solidFill>
                  <a:srgbClr val="0F2B42"/>
                </a:solidFill>
              </a:rPr>
              <a:t>respuestas </a:t>
            </a:r>
            <a:r>
              <a:rPr lang="es-ES" sz="2000" spc="247" dirty="0" smtClean="0">
                <a:solidFill>
                  <a:srgbClr val="0F2B42"/>
                </a:solidFill>
              </a:rPr>
              <a:t>consistentes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247" dirty="0" smtClean="0">
                <a:solidFill>
                  <a:srgbClr val="0F2B42"/>
                </a:solidFill>
              </a:rPr>
              <a:t>Evitar </a:t>
            </a:r>
            <a:r>
              <a:rPr lang="es-ES" sz="2000" spc="247" dirty="0">
                <a:solidFill>
                  <a:srgbClr val="0F2B42"/>
                </a:solidFill>
              </a:rPr>
              <a:t>lógica repetida en </a:t>
            </a:r>
            <a:r>
              <a:rPr lang="es-ES" sz="2000" spc="247" dirty="0" err="1">
                <a:solidFill>
                  <a:srgbClr val="0F2B42"/>
                </a:solidFill>
              </a:rPr>
              <a:t>controllers</a:t>
            </a:r>
            <a:r>
              <a:rPr lang="es-ES" sz="2000" spc="247" dirty="0">
                <a:solidFill>
                  <a:srgbClr val="0F2B42"/>
                </a:solidFill>
              </a:rPr>
              <a:t>.</a:t>
            </a:r>
            <a:endParaRPr lang="es-ES" sz="2000" spc="247" dirty="0" smtClean="0">
              <a:solidFill>
                <a:srgbClr val="0F2B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5379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18">
            <a:extLst>
              <a:ext uri="{FF2B5EF4-FFF2-40B4-BE49-F238E27FC236}">
                <a16:creationId xmlns:a16="http://schemas.microsoft.com/office/drawing/2014/main" id="{D5B04949-1244-385E-1A7C-D2288AD2AC2B}"/>
              </a:ext>
            </a:extLst>
          </p:cNvPr>
          <p:cNvSpPr txBox="1"/>
          <p:nvPr/>
        </p:nvSpPr>
        <p:spPr>
          <a:xfrm>
            <a:off x="1506482" y="448667"/>
            <a:ext cx="9624009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66"/>
              </a:lnSpc>
            </a:pPr>
            <a:r>
              <a:rPr lang="en-US" sz="4400" b="1" dirty="0" err="1" smtClean="0">
                <a:solidFill>
                  <a:srgbClr val="0F2B42"/>
                </a:solidFill>
              </a:rPr>
              <a:t>Temáticas</a:t>
            </a:r>
            <a:r>
              <a:rPr lang="en-US" sz="4400" b="1" dirty="0" smtClean="0">
                <a:solidFill>
                  <a:srgbClr val="0F2B42"/>
                </a:solidFill>
              </a:rPr>
              <a:t> clave de la </a:t>
            </a:r>
            <a:r>
              <a:rPr lang="en-US" sz="4400" b="1" dirty="0" err="1" smtClean="0">
                <a:solidFill>
                  <a:srgbClr val="0F2B42"/>
                </a:solidFill>
              </a:rPr>
              <a:t>semana</a:t>
            </a:r>
            <a:endParaRPr lang="en-US" sz="4400" b="1" dirty="0">
              <a:solidFill>
                <a:srgbClr val="0F2B42"/>
              </a:solidFill>
            </a:endParaRPr>
          </a:p>
        </p:txBody>
      </p:sp>
      <p:sp>
        <p:nvSpPr>
          <p:cNvPr id="17" name="Freeform 5"/>
          <p:cNvSpPr/>
          <p:nvPr/>
        </p:nvSpPr>
        <p:spPr>
          <a:xfrm flipH="1" flipV="1">
            <a:off x="-1128076" y="-377953"/>
            <a:ext cx="2256151" cy="2001822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4118444" y="3654183"/>
                </a:moveTo>
                <a:lnTo>
                  <a:pt x="0" y="3654183"/>
                </a:lnTo>
                <a:lnTo>
                  <a:pt x="0" y="0"/>
                </a:lnTo>
                <a:lnTo>
                  <a:pt x="4118444" y="0"/>
                </a:lnTo>
                <a:lnTo>
                  <a:pt x="4118444" y="365418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Freeform 4"/>
          <p:cNvSpPr/>
          <p:nvPr/>
        </p:nvSpPr>
        <p:spPr>
          <a:xfrm>
            <a:off x="10981640" y="5102352"/>
            <a:ext cx="2420719" cy="2147838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0" y="0"/>
                </a:moveTo>
                <a:lnTo>
                  <a:pt x="4118443" y="0"/>
                </a:lnTo>
                <a:lnTo>
                  <a:pt x="4118443" y="3654183"/>
                </a:lnTo>
                <a:lnTo>
                  <a:pt x="0" y="36541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9" name="Group 6"/>
          <p:cNvGrpSpPr/>
          <p:nvPr/>
        </p:nvGrpSpPr>
        <p:grpSpPr>
          <a:xfrm>
            <a:off x="10791515" y="0"/>
            <a:ext cx="1400485" cy="897768"/>
            <a:chOff x="0" y="0"/>
            <a:chExt cx="368852" cy="236449"/>
          </a:xfrm>
        </p:grpSpPr>
        <p:sp>
          <p:nvSpPr>
            <p:cNvPr id="22" name="Freeform 7"/>
            <p:cNvSpPr/>
            <p:nvPr/>
          </p:nvSpPr>
          <p:spPr>
            <a:xfrm>
              <a:off x="0" y="0"/>
              <a:ext cx="368852" cy="236449"/>
            </a:xfrm>
            <a:custGeom>
              <a:avLst/>
              <a:gdLst/>
              <a:ahLst/>
              <a:cxnLst/>
              <a:rect l="l" t="t" r="r" b="b"/>
              <a:pathLst>
                <a:path w="368852" h="236449">
                  <a:moveTo>
                    <a:pt x="0" y="0"/>
                  </a:moveTo>
                  <a:lnTo>
                    <a:pt x="368852" y="0"/>
                  </a:lnTo>
                  <a:lnTo>
                    <a:pt x="368852" y="236449"/>
                  </a:lnTo>
                  <a:lnTo>
                    <a:pt x="0" y="236449"/>
                  </a:lnTo>
                  <a:lnTo>
                    <a:pt x="0" y="0"/>
                  </a:lnTo>
                </a:path>
              </a:pathLst>
            </a:custGeom>
            <a:solidFill>
              <a:srgbClr val="0F2B42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8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32" name="Imagen 31">
            <a:extLst>
              <a:ext uri="{FF2B5EF4-FFF2-40B4-BE49-F238E27FC236}">
                <a16:creationId xmlns:a16="http://schemas.microsoft.com/office/drawing/2014/main" id="{6C9D4142-BE72-6780-A8C4-A4191392B31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09" t="32214" r="15107" b="38473"/>
          <a:stretch/>
        </p:blipFill>
        <p:spPr>
          <a:xfrm>
            <a:off x="8112768" y="0"/>
            <a:ext cx="2678747" cy="897768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590499" y="1452802"/>
            <a:ext cx="10848168" cy="480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524" spc="247" dirty="0" smtClean="0">
                <a:solidFill>
                  <a:srgbClr val="0F2B42"/>
                </a:solidFill>
              </a:rPr>
              <a:t>Desarrollo de microservicios</a:t>
            </a:r>
            <a:r>
              <a:rPr lang="es-ES" sz="2524" spc="247" dirty="0">
                <a:solidFill>
                  <a:srgbClr val="0F2B42"/>
                </a:solidFill>
              </a:rPr>
              <a:t>: </a:t>
            </a:r>
            <a:r>
              <a:rPr lang="es-ES" sz="2524" spc="247" dirty="0" smtClean="0">
                <a:solidFill>
                  <a:srgbClr val="0F2B42"/>
                </a:solidFill>
              </a:rPr>
              <a:t>Tipos </a:t>
            </a:r>
            <a:r>
              <a:rPr lang="es-ES" sz="2524" spc="247" dirty="0">
                <a:solidFill>
                  <a:srgbClr val="0F2B42"/>
                </a:solidFill>
              </a:rPr>
              <a:t>de </a:t>
            </a:r>
            <a:r>
              <a:rPr lang="es-ES" sz="2524" spc="247" dirty="0" smtClean="0">
                <a:solidFill>
                  <a:srgbClr val="0F2B42"/>
                </a:solidFill>
              </a:rPr>
              <a:t>parámetros REST.</a:t>
            </a:r>
          </a:p>
        </p:txBody>
      </p:sp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0494068"/>
              </p:ext>
            </p:extLst>
          </p:nvPr>
        </p:nvGraphicFramePr>
        <p:xfrm>
          <a:off x="704573" y="3248152"/>
          <a:ext cx="9108953" cy="18542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508252">
                  <a:extLst>
                    <a:ext uri="{9D8B030D-6E8A-4147-A177-3AD203B41FA5}">
                      <a16:colId xmlns:a16="http://schemas.microsoft.com/office/drawing/2014/main" val="3465548147"/>
                    </a:ext>
                  </a:extLst>
                </a:gridCol>
                <a:gridCol w="1979486">
                  <a:extLst>
                    <a:ext uri="{9D8B030D-6E8A-4147-A177-3AD203B41FA5}">
                      <a16:colId xmlns:a16="http://schemas.microsoft.com/office/drawing/2014/main" val="4169763160"/>
                    </a:ext>
                  </a:extLst>
                </a:gridCol>
                <a:gridCol w="5621215">
                  <a:extLst>
                    <a:ext uri="{9D8B030D-6E8A-4147-A177-3AD203B41FA5}">
                      <a16:colId xmlns:a16="http://schemas.microsoft.com/office/drawing/2014/main" val="7980071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CL" dirty="0" smtClean="0"/>
                        <a:t>Tipo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Uso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Ejemplo Controller Java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6388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dirty="0" err="1" smtClean="0"/>
                        <a:t>Path</a:t>
                      </a:r>
                      <a:r>
                        <a:rPr lang="es-CL" dirty="0" smtClean="0"/>
                        <a:t> Variable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Identificar recurso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@</a:t>
                      </a:r>
                      <a:r>
                        <a:rPr lang="es-CL" dirty="0" err="1" smtClean="0"/>
                        <a:t>PathVariable</a:t>
                      </a:r>
                      <a:r>
                        <a:rPr lang="es-CL" dirty="0" smtClean="0"/>
                        <a:t>("id") String id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8499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dirty="0" smtClean="0"/>
                        <a:t>Query </a:t>
                      </a:r>
                      <a:r>
                        <a:rPr lang="es-CL" dirty="0" err="1" smtClean="0"/>
                        <a:t>Param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Filtrar datos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@</a:t>
                      </a:r>
                      <a:r>
                        <a:rPr lang="es-CL" dirty="0" err="1" smtClean="0"/>
                        <a:t>RequestParam</a:t>
                      </a:r>
                      <a:r>
                        <a:rPr lang="es-CL" dirty="0" smtClean="0"/>
                        <a:t>("status") String status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1872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dirty="0" smtClean="0"/>
                        <a:t>Request </a:t>
                      </a:r>
                      <a:r>
                        <a:rPr lang="es-CL" dirty="0" err="1" smtClean="0"/>
                        <a:t>Body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Enviar información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@</a:t>
                      </a:r>
                      <a:r>
                        <a:rPr lang="es-CL" dirty="0" err="1" smtClean="0"/>
                        <a:t>RequestBody</a:t>
                      </a:r>
                      <a:r>
                        <a:rPr lang="es-CL" dirty="0" smtClean="0"/>
                        <a:t> </a:t>
                      </a:r>
                      <a:r>
                        <a:rPr lang="es-CL" dirty="0" err="1" smtClean="0"/>
                        <a:t>Map</a:t>
                      </a:r>
                      <a:r>
                        <a:rPr lang="es-CL" dirty="0" smtClean="0"/>
                        <a:t>&lt;String, String&gt; </a:t>
                      </a:r>
                      <a:r>
                        <a:rPr lang="es-CL" dirty="0" err="1" smtClean="0"/>
                        <a:t>body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6954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dirty="0" err="1" smtClean="0"/>
                        <a:t>Header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Metadatos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@</a:t>
                      </a:r>
                      <a:r>
                        <a:rPr lang="es-CL" dirty="0" err="1" smtClean="0"/>
                        <a:t>RequestHeader</a:t>
                      </a:r>
                      <a:r>
                        <a:rPr lang="es-CL" dirty="0" smtClean="0"/>
                        <a:t>("</a:t>
                      </a:r>
                      <a:r>
                        <a:rPr lang="es-CL" dirty="0" err="1" smtClean="0"/>
                        <a:t>Authorization</a:t>
                      </a:r>
                      <a:r>
                        <a:rPr lang="es-CL" dirty="0" smtClean="0"/>
                        <a:t>") String </a:t>
                      </a:r>
                      <a:r>
                        <a:rPr lang="es-CL" dirty="0" err="1" smtClean="0"/>
                        <a:t>authHeader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4813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5630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18">
            <a:extLst>
              <a:ext uri="{FF2B5EF4-FFF2-40B4-BE49-F238E27FC236}">
                <a16:creationId xmlns:a16="http://schemas.microsoft.com/office/drawing/2014/main" id="{D5B04949-1244-385E-1A7C-D2288AD2AC2B}"/>
              </a:ext>
            </a:extLst>
          </p:cNvPr>
          <p:cNvSpPr txBox="1"/>
          <p:nvPr/>
        </p:nvSpPr>
        <p:spPr>
          <a:xfrm>
            <a:off x="1506482" y="448667"/>
            <a:ext cx="9624009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66"/>
              </a:lnSpc>
            </a:pPr>
            <a:r>
              <a:rPr lang="en-US" sz="4400" b="1" dirty="0" err="1" smtClean="0">
                <a:solidFill>
                  <a:srgbClr val="0F2B42"/>
                </a:solidFill>
              </a:rPr>
              <a:t>Temáticas</a:t>
            </a:r>
            <a:r>
              <a:rPr lang="en-US" sz="4400" b="1" dirty="0" smtClean="0">
                <a:solidFill>
                  <a:srgbClr val="0F2B42"/>
                </a:solidFill>
              </a:rPr>
              <a:t> clave de la </a:t>
            </a:r>
            <a:r>
              <a:rPr lang="en-US" sz="4400" b="1" dirty="0" err="1" smtClean="0">
                <a:solidFill>
                  <a:srgbClr val="0F2B42"/>
                </a:solidFill>
              </a:rPr>
              <a:t>semana</a:t>
            </a:r>
            <a:endParaRPr lang="en-US" sz="4400" b="1" dirty="0">
              <a:solidFill>
                <a:srgbClr val="0F2B42"/>
              </a:solidFill>
            </a:endParaRPr>
          </a:p>
        </p:txBody>
      </p:sp>
      <p:sp>
        <p:nvSpPr>
          <p:cNvPr id="17" name="Freeform 5"/>
          <p:cNvSpPr/>
          <p:nvPr/>
        </p:nvSpPr>
        <p:spPr>
          <a:xfrm flipH="1" flipV="1">
            <a:off x="-1128076" y="-377953"/>
            <a:ext cx="2256151" cy="2001822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4118444" y="3654183"/>
                </a:moveTo>
                <a:lnTo>
                  <a:pt x="0" y="3654183"/>
                </a:lnTo>
                <a:lnTo>
                  <a:pt x="0" y="0"/>
                </a:lnTo>
                <a:lnTo>
                  <a:pt x="4118444" y="0"/>
                </a:lnTo>
                <a:lnTo>
                  <a:pt x="4118444" y="365418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Freeform 4"/>
          <p:cNvSpPr/>
          <p:nvPr/>
        </p:nvSpPr>
        <p:spPr>
          <a:xfrm>
            <a:off x="10981640" y="5102352"/>
            <a:ext cx="2420719" cy="2147838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0" y="0"/>
                </a:moveTo>
                <a:lnTo>
                  <a:pt x="4118443" y="0"/>
                </a:lnTo>
                <a:lnTo>
                  <a:pt x="4118443" y="3654183"/>
                </a:lnTo>
                <a:lnTo>
                  <a:pt x="0" y="36541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9" name="Group 6"/>
          <p:cNvGrpSpPr/>
          <p:nvPr/>
        </p:nvGrpSpPr>
        <p:grpSpPr>
          <a:xfrm>
            <a:off x="10791515" y="0"/>
            <a:ext cx="1400485" cy="897768"/>
            <a:chOff x="0" y="0"/>
            <a:chExt cx="368852" cy="236449"/>
          </a:xfrm>
        </p:grpSpPr>
        <p:sp>
          <p:nvSpPr>
            <p:cNvPr id="22" name="Freeform 7"/>
            <p:cNvSpPr/>
            <p:nvPr/>
          </p:nvSpPr>
          <p:spPr>
            <a:xfrm>
              <a:off x="0" y="0"/>
              <a:ext cx="368852" cy="236449"/>
            </a:xfrm>
            <a:custGeom>
              <a:avLst/>
              <a:gdLst/>
              <a:ahLst/>
              <a:cxnLst/>
              <a:rect l="l" t="t" r="r" b="b"/>
              <a:pathLst>
                <a:path w="368852" h="236449">
                  <a:moveTo>
                    <a:pt x="0" y="0"/>
                  </a:moveTo>
                  <a:lnTo>
                    <a:pt x="368852" y="0"/>
                  </a:lnTo>
                  <a:lnTo>
                    <a:pt x="368852" y="236449"/>
                  </a:lnTo>
                  <a:lnTo>
                    <a:pt x="0" y="236449"/>
                  </a:lnTo>
                  <a:lnTo>
                    <a:pt x="0" y="0"/>
                  </a:lnTo>
                </a:path>
              </a:pathLst>
            </a:custGeom>
            <a:solidFill>
              <a:srgbClr val="0F2B42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8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32" name="Imagen 31">
            <a:extLst>
              <a:ext uri="{FF2B5EF4-FFF2-40B4-BE49-F238E27FC236}">
                <a16:creationId xmlns:a16="http://schemas.microsoft.com/office/drawing/2014/main" id="{6C9D4142-BE72-6780-A8C4-A4191392B31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09" t="32214" r="15107" b="38473"/>
          <a:stretch/>
        </p:blipFill>
        <p:spPr>
          <a:xfrm>
            <a:off x="8112768" y="0"/>
            <a:ext cx="2678747" cy="897768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590499" y="1452802"/>
            <a:ext cx="10848168" cy="8692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524" spc="247" dirty="0" smtClean="0">
                <a:solidFill>
                  <a:srgbClr val="0F2B42"/>
                </a:solidFill>
              </a:rPr>
              <a:t>Desarrollo de microservicios</a:t>
            </a:r>
            <a:r>
              <a:rPr lang="es-ES" sz="2524" spc="247" dirty="0">
                <a:solidFill>
                  <a:srgbClr val="0F2B42"/>
                </a:solidFill>
              </a:rPr>
              <a:t>: Uso de parámetros según verbo HTTP.</a:t>
            </a:r>
            <a:endParaRPr lang="es-ES" sz="2524" spc="247" dirty="0" smtClean="0">
              <a:solidFill>
                <a:srgbClr val="0F2B42"/>
              </a:solidFill>
            </a:endParaRPr>
          </a:p>
        </p:txBody>
      </p:sp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3296139"/>
              </p:ext>
            </p:extLst>
          </p:nvPr>
        </p:nvGraphicFramePr>
        <p:xfrm>
          <a:off x="2046865" y="3248152"/>
          <a:ext cx="6912802" cy="18542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917893">
                  <a:extLst>
                    <a:ext uri="{9D8B030D-6E8A-4147-A177-3AD203B41FA5}">
                      <a16:colId xmlns:a16="http://schemas.microsoft.com/office/drawing/2014/main" val="3465548147"/>
                    </a:ext>
                  </a:extLst>
                </a:gridCol>
                <a:gridCol w="1494028">
                  <a:extLst>
                    <a:ext uri="{9D8B030D-6E8A-4147-A177-3AD203B41FA5}">
                      <a16:colId xmlns:a16="http://schemas.microsoft.com/office/drawing/2014/main" val="4169763160"/>
                    </a:ext>
                  </a:extLst>
                </a:gridCol>
                <a:gridCol w="1476185">
                  <a:extLst>
                    <a:ext uri="{9D8B030D-6E8A-4147-A177-3AD203B41FA5}">
                      <a16:colId xmlns:a16="http://schemas.microsoft.com/office/drawing/2014/main" val="1393160763"/>
                    </a:ext>
                  </a:extLst>
                </a:gridCol>
                <a:gridCol w="2100453">
                  <a:extLst>
                    <a:ext uri="{9D8B030D-6E8A-4147-A177-3AD203B41FA5}">
                      <a16:colId xmlns:a16="http://schemas.microsoft.com/office/drawing/2014/main" val="1830769097"/>
                    </a:ext>
                  </a:extLst>
                </a:gridCol>
                <a:gridCol w="924243">
                  <a:extLst>
                    <a:ext uri="{9D8B030D-6E8A-4147-A177-3AD203B41FA5}">
                      <a16:colId xmlns:a16="http://schemas.microsoft.com/office/drawing/2014/main" val="7980071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CL" dirty="0" smtClean="0"/>
                        <a:t>Verbo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err="1" smtClean="0"/>
                        <a:t>Path</a:t>
                      </a:r>
                      <a:r>
                        <a:rPr lang="es-CL" dirty="0" smtClean="0"/>
                        <a:t> Variable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Query </a:t>
                      </a:r>
                      <a:r>
                        <a:rPr lang="es-CL" dirty="0" err="1" smtClean="0"/>
                        <a:t>Param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err="1" smtClean="0"/>
                        <a:t>Body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err="1" smtClean="0"/>
                        <a:t>Header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6388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dirty="0" smtClean="0"/>
                        <a:t>GET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✔ Sí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dirty="0" smtClean="0"/>
                        <a:t>✔ Sí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⚠ No recomendado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dirty="0" smtClean="0"/>
                        <a:t>✔ Sí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8499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dirty="0" smtClean="0"/>
                        <a:t>POST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✔ Sí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dirty="0" smtClean="0"/>
                        <a:t>✔ Sí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✔ Sí (principal)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dirty="0" smtClean="0"/>
                        <a:t>✔ Sí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1872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dirty="0" smtClean="0"/>
                        <a:t>PUT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✔ Sí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dirty="0" smtClean="0"/>
                        <a:t>✔ Sí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✔ Sí (principal)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dirty="0" smtClean="0"/>
                        <a:t>✔ Sí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6954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dirty="0" smtClean="0"/>
                        <a:t>DELETE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✔ Sí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dirty="0" smtClean="0"/>
                        <a:t>✔ Sí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 smtClean="0"/>
                        <a:t>⚠ Poco común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dirty="0" smtClean="0"/>
                        <a:t>✔ Sí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4813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0535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18">
            <a:extLst>
              <a:ext uri="{FF2B5EF4-FFF2-40B4-BE49-F238E27FC236}">
                <a16:creationId xmlns:a16="http://schemas.microsoft.com/office/drawing/2014/main" id="{D5B04949-1244-385E-1A7C-D2288AD2AC2B}"/>
              </a:ext>
            </a:extLst>
          </p:cNvPr>
          <p:cNvSpPr txBox="1"/>
          <p:nvPr/>
        </p:nvSpPr>
        <p:spPr>
          <a:xfrm>
            <a:off x="1506482" y="448667"/>
            <a:ext cx="9624009" cy="9511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66"/>
              </a:lnSpc>
            </a:pPr>
            <a:r>
              <a:rPr lang="en-US" sz="4400" b="1" dirty="0" err="1" smtClean="0">
                <a:solidFill>
                  <a:srgbClr val="0F2B42"/>
                </a:solidFill>
              </a:rPr>
              <a:t>Ejemplos</a:t>
            </a:r>
            <a:r>
              <a:rPr lang="en-US" sz="4400" b="1" dirty="0" smtClean="0">
                <a:solidFill>
                  <a:srgbClr val="0F2B42"/>
                </a:solidFill>
              </a:rPr>
              <a:t> </a:t>
            </a:r>
            <a:r>
              <a:rPr lang="en-US" sz="4400" b="1" dirty="0" err="1" smtClean="0">
                <a:solidFill>
                  <a:srgbClr val="0F2B42"/>
                </a:solidFill>
              </a:rPr>
              <a:t>prácticos</a:t>
            </a:r>
            <a:endParaRPr lang="en-US" sz="4400" b="1" dirty="0">
              <a:solidFill>
                <a:srgbClr val="0F2B42"/>
              </a:solidFill>
            </a:endParaRPr>
          </a:p>
        </p:txBody>
      </p:sp>
      <p:sp>
        <p:nvSpPr>
          <p:cNvPr id="17" name="Freeform 5"/>
          <p:cNvSpPr/>
          <p:nvPr/>
        </p:nvSpPr>
        <p:spPr>
          <a:xfrm flipH="1" flipV="1">
            <a:off x="-1128076" y="-377953"/>
            <a:ext cx="2256151" cy="2001822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4118444" y="3654183"/>
                </a:moveTo>
                <a:lnTo>
                  <a:pt x="0" y="3654183"/>
                </a:lnTo>
                <a:lnTo>
                  <a:pt x="0" y="0"/>
                </a:lnTo>
                <a:lnTo>
                  <a:pt x="4118444" y="0"/>
                </a:lnTo>
                <a:lnTo>
                  <a:pt x="4118444" y="365418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Freeform 4"/>
          <p:cNvSpPr/>
          <p:nvPr/>
        </p:nvSpPr>
        <p:spPr>
          <a:xfrm>
            <a:off x="10981640" y="5102352"/>
            <a:ext cx="2420719" cy="2147838"/>
          </a:xfrm>
          <a:custGeom>
            <a:avLst/>
            <a:gdLst/>
            <a:ahLst/>
            <a:cxnLst/>
            <a:rect l="l" t="t" r="r" b="b"/>
            <a:pathLst>
              <a:path w="4118443" h="3654183">
                <a:moveTo>
                  <a:pt x="0" y="0"/>
                </a:moveTo>
                <a:lnTo>
                  <a:pt x="4118443" y="0"/>
                </a:lnTo>
                <a:lnTo>
                  <a:pt x="4118443" y="3654183"/>
                </a:lnTo>
                <a:lnTo>
                  <a:pt x="0" y="36541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9" name="Group 6"/>
          <p:cNvGrpSpPr/>
          <p:nvPr/>
        </p:nvGrpSpPr>
        <p:grpSpPr>
          <a:xfrm>
            <a:off x="10791515" y="0"/>
            <a:ext cx="1400485" cy="897768"/>
            <a:chOff x="0" y="0"/>
            <a:chExt cx="368852" cy="236449"/>
          </a:xfrm>
        </p:grpSpPr>
        <p:sp>
          <p:nvSpPr>
            <p:cNvPr id="22" name="Freeform 7"/>
            <p:cNvSpPr/>
            <p:nvPr/>
          </p:nvSpPr>
          <p:spPr>
            <a:xfrm>
              <a:off x="0" y="0"/>
              <a:ext cx="368852" cy="236449"/>
            </a:xfrm>
            <a:custGeom>
              <a:avLst/>
              <a:gdLst/>
              <a:ahLst/>
              <a:cxnLst/>
              <a:rect l="l" t="t" r="r" b="b"/>
              <a:pathLst>
                <a:path w="368852" h="236449">
                  <a:moveTo>
                    <a:pt x="0" y="0"/>
                  </a:moveTo>
                  <a:lnTo>
                    <a:pt x="368852" y="0"/>
                  </a:lnTo>
                  <a:lnTo>
                    <a:pt x="368852" y="236449"/>
                  </a:lnTo>
                  <a:lnTo>
                    <a:pt x="0" y="236449"/>
                  </a:lnTo>
                  <a:lnTo>
                    <a:pt x="0" y="0"/>
                  </a:lnTo>
                </a:path>
              </a:pathLst>
            </a:custGeom>
            <a:solidFill>
              <a:srgbClr val="0F2B42"/>
            </a:solidFill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8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32" name="Imagen 31">
            <a:extLst>
              <a:ext uri="{FF2B5EF4-FFF2-40B4-BE49-F238E27FC236}">
                <a16:creationId xmlns:a16="http://schemas.microsoft.com/office/drawing/2014/main" id="{6C9D4142-BE72-6780-A8C4-A4191392B31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09" t="32214" r="15107" b="38473"/>
          <a:stretch/>
        </p:blipFill>
        <p:spPr>
          <a:xfrm>
            <a:off x="8112768" y="0"/>
            <a:ext cx="2678747" cy="897768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834888" y="2720738"/>
            <a:ext cx="899885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Tx/>
              <a:buChar char="-"/>
            </a:pPr>
            <a:r>
              <a:rPr lang="es-ES" sz="2800" spc="247" dirty="0" smtClean="0">
                <a:solidFill>
                  <a:srgbClr val="0F2B42"/>
                </a:solidFill>
              </a:rPr>
              <a:t>Desarrollo de microservicios.</a:t>
            </a:r>
          </a:p>
        </p:txBody>
      </p:sp>
    </p:spTree>
    <p:extLst>
      <p:ext uri="{BB962C8B-B14F-4D97-AF65-F5344CB8AC3E}">
        <p14:creationId xmlns:p14="http://schemas.microsoft.com/office/powerpoint/2010/main" val="2664583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14068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s-CL" sz="1200"/>
          </a:p>
        </p:txBody>
      </p:sp>
      <p:grpSp>
        <p:nvGrpSpPr>
          <p:cNvPr id="3" name="Group 3"/>
          <p:cNvGrpSpPr/>
          <p:nvPr/>
        </p:nvGrpSpPr>
        <p:grpSpPr>
          <a:xfrm rot="826432">
            <a:off x="-12235403" y="-2378106"/>
            <a:ext cx="14017561" cy="8554614"/>
            <a:chOff x="0" y="0"/>
            <a:chExt cx="5537802" cy="337960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537802" cy="3379601"/>
            </a:xfrm>
            <a:custGeom>
              <a:avLst/>
              <a:gdLst/>
              <a:ahLst/>
              <a:cxnLst/>
              <a:rect l="l" t="t" r="r" b="b"/>
              <a:pathLst>
                <a:path w="5537802" h="3379601">
                  <a:moveTo>
                    <a:pt x="0" y="0"/>
                  </a:moveTo>
                  <a:lnTo>
                    <a:pt x="5537802" y="0"/>
                  </a:lnTo>
                  <a:lnTo>
                    <a:pt x="5537802" y="3379601"/>
                  </a:lnTo>
                  <a:lnTo>
                    <a:pt x="0" y="3379601"/>
                  </a:lnTo>
                  <a:lnTo>
                    <a:pt x="0" y="0"/>
                  </a:lnTo>
                </a:path>
              </a:pathLst>
            </a:custGeom>
            <a:solidFill>
              <a:srgbClr val="FABC1E"/>
            </a:solidFill>
          </p:spPr>
          <p:txBody>
            <a:bodyPr/>
            <a:lstStyle/>
            <a:p>
              <a:endParaRPr lang="es-CL" sz="120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06"/>
                </a:lnSpc>
              </a:pPr>
              <a:endParaRPr sz="1200"/>
            </a:p>
          </p:txBody>
        </p:sp>
      </p:grpSp>
      <p:grpSp>
        <p:nvGrpSpPr>
          <p:cNvPr id="6" name="Group 6"/>
          <p:cNvGrpSpPr/>
          <p:nvPr/>
        </p:nvGrpSpPr>
        <p:grpSpPr>
          <a:xfrm rot="773821">
            <a:off x="2494382" y="-3222675"/>
            <a:ext cx="209222" cy="5654899"/>
            <a:chOff x="0" y="0"/>
            <a:chExt cx="82656" cy="223403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2656" cy="2234034"/>
            </a:xfrm>
            <a:custGeom>
              <a:avLst/>
              <a:gdLst/>
              <a:ahLst/>
              <a:cxnLst/>
              <a:rect l="l" t="t" r="r" b="b"/>
              <a:pathLst>
                <a:path w="82656" h="2234034">
                  <a:moveTo>
                    <a:pt x="0" y="0"/>
                  </a:moveTo>
                  <a:lnTo>
                    <a:pt x="82656" y="0"/>
                  </a:lnTo>
                  <a:lnTo>
                    <a:pt x="82656" y="2234034"/>
                  </a:lnTo>
                  <a:lnTo>
                    <a:pt x="0" y="2234034"/>
                  </a:lnTo>
                  <a:lnTo>
                    <a:pt x="0" y="0"/>
                  </a:lnTo>
                </a:path>
              </a:pathLst>
            </a:custGeom>
            <a:solidFill>
              <a:srgbClr val="0F2B42"/>
            </a:solidFill>
          </p:spPr>
          <p:txBody>
            <a:bodyPr/>
            <a:lstStyle/>
            <a:p>
              <a:endParaRPr lang="es-CL" sz="120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06"/>
                </a:lnSpc>
              </a:pPr>
              <a:endParaRPr sz="1200"/>
            </a:p>
          </p:txBody>
        </p:sp>
      </p:grpSp>
      <p:pic>
        <p:nvPicPr>
          <p:cNvPr id="13" name="Imagen 12">
            <a:extLst>
              <a:ext uri="{FF2B5EF4-FFF2-40B4-BE49-F238E27FC236}">
                <a16:creationId xmlns:a16="http://schemas.microsoft.com/office/drawing/2014/main" id="{11C59FE3-4171-D317-1E9B-77B57CF1531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09" t="32214" r="15107" b="38473"/>
          <a:stretch/>
        </p:blipFill>
        <p:spPr>
          <a:xfrm>
            <a:off x="5817476" y="3139141"/>
            <a:ext cx="3287777" cy="1101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608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1553</TotalTime>
  <Words>438</Words>
  <Application>Microsoft Office PowerPoint</Application>
  <PresentationFormat>Panorámica</PresentationFormat>
  <Paragraphs>130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Codec Pro ExtraBold Italics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Alonso</dc:creator>
  <cp:lastModifiedBy>Alonso</cp:lastModifiedBy>
  <cp:revision>142</cp:revision>
  <dcterms:created xsi:type="dcterms:W3CDTF">2025-05-16T02:49:00Z</dcterms:created>
  <dcterms:modified xsi:type="dcterms:W3CDTF">2026-03-24T19:50:07Z</dcterms:modified>
</cp:coreProperties>
</file>