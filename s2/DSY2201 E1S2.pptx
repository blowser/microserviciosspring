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9" r:id="rId4"/>
    <p:sldId id="320" r:id="rId5"/>
    <p:sldId id="321" r:id="rId6"/>
    <p:sldId id="322" r:id="rId7"/>
    <p:sldId id="316" r:id="rId8"/>
    <p:sldId id="317" r:id="rId9"/>
    <p:sldId id="324" r:id="rId10"/>
    <p:sldId id="325" r:id="rId11"/>
    <p:sldId id="326" r:id="rId12"/>
    <p:sldId id="323" r:id="rId13"/>
    <p:sldId id="30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94" d="100"/>
          <a:sy n="194" d="100"/>
        </p:scale>
        <p:origin x="1013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0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15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33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58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961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46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29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348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94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735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248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4D160-7E9F-4B8C-A177-C5C36EB8DF2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21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Relationship Id="rId10" Type="http://schemas.openxmlformats.org/officeDocument/2006/relationships/image" Target="../media/image9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12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3.png"/><Relationship Id="rId5" Type="http://schemas.openxmlformats.org/officeDocument/2006/relationships/image" Target="../media/image110.svg"/><Relationship Id="rId10" Type="http://schemas.openxmlformats.org/officeDocument/2006/relationships/image" Target="../media/image12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92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92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1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1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1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16"/>
          <p:cNvSpPr/>
          <p:nvPr/>
        </p:nvSpPr>
        <p:spPr>
          <a:xfrm>
            <a:off x="10541665" y="5532883"/>
            <a:ext cx="2421311" cy="1325117"/>
          </a:xfrm>
          <a:custGeom>
            <a:avLst/>
            <a:gdLst/>
            <a:ahLst/>
            <a:cxnLst/>
            <a:rect l="l" t="t" r="r" b="b"/>
            <a:pathLst>
              <a:path w="3806571" h="2083232">
                <a:moveTo>
                  <a:pt x="0" y="0"/>
                </a:moveTo>
                <a:lnTo>
                  <a:pt x="3806571" y="0"/>
                </a:lnTo>
                <a:lnTo>
                  <a:pt x="3806571" y="2083233"/>
                </a:lnTo>
                <a:lnTo>
                  <a:pt x="0" y="2083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7"/>
          <p:cNvGrpSpPr/>
          <p:nvPr/>
        </p:nvGrpSpPr>
        <p:grpSpPr>
          <a:xfrm>
            <a:off x="0" y="0"/>
            <a:ext cx="1684020" cy="6858000"/>
            <a:chOff x="0" y="0"/>
            <a:chExt cx="812800" cy="2976105"/>
          </a:xfrm>
        </p:grpSpPr>
        <p:sp>
          <p:nvSpPr>
            <p:cNvPr id="5" name="Freeform 8"/>
            <p:cNvSpPr/>
            <p:nvPr/>
          </p:nvSpPr>
          <p:spPr>
            <a:xfrm>
              <a:off x="0" y="0"/>
              <a:ext cx="812800" cy="2976105"/>
            </a:xfrm>
            <a:custGeom>
              <a:avLst/>
              <a:gdLst/>
              <a:ahLst/>
              <a:cxnLst/>
              <a:rect l="l" t="t" r="r" b="b"/>
              <a:pathLst>
                <a:path w="812800" h="2976105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lnTo>
                    <a:pt x="0" y="0"/>
                  </a:lnTo>
                </a:path>
              </a:pathLst>
            </a:custGeom>
            <a:solidFill>
              <a:srgbClr val="FABC1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9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9" name="Group 2"/>
          <p:cNvGrpSpPr/>
          <p:nvPr/>
        </p:nvGrpSpPr>
        <p:grpSpPr>
          <a:xfrm>
            <a:off x="9090660" y="0"/>
            <a:ext cx="2161984" cy="6858000"/>
            <a:chOff x="0" y="0"/>
            <a:chExt cx="812800" cy="2976105"/>
          </a:xfrm>
        </p:grpSpPr>
        <p:sp>
          <p:nvSpPr>
            <p:cNvPr id="10" name="Freeform 3"/>
            <p:cNvSpPr/>
            <p:nvPr/>
          </p:nvSpPr>
          <p:spPr>
            <a:xfrm>
              <a:off x="0" y="0"/>
              <a:ext cx="812800" cy="2976105"/>
            </a:xfrm>
            <a:custGeom>
              <a:avLst/>
              <a:gdLst/>
              <a:ahLst/>
              <a:cxnLst/>
              <a:rect l="l" t="t" r="r" b="b"/>
              <a:pathLst>
                <a:path w="812800" h="2976105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4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4" name="Freeform 17"/>
          <p:cNvSpPr/>
          <p:nvPr/>
        </p:nvSpPr>
        <p:spPr>
          <a:xfrm>
            <a:off x="1489522" y="0"/>
            <a:ext cx="5636747" cy="1603247"/>
          </a:xfrm>
          <a:custGeom>
            <a:avLst/>
            <a:gdLst/>
            <a:ahLst/>
            <a:cxnLst/>
            <a:rect l="l" t="t" r="r" b="b"/>
            <a:pathLst>
              <a:path w="6851949" h="1948884">
                <a:moveTo>
                  <a:pt x="0" y="0"/>
                </a:moveTo>
                <a:lnTo>
                  <a:pt x="6851949" y="0"/>
                </a:lnTo>
                <a:lnTo>
                  <a:pt x="6851949" y="1948885"/>
                </a:lnTo>
                <a:lnTo>
                  <a:pt x="0" y="19488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98223" b="-73454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6"/>
          <p:cNvSpPr/>
          <p:nvPr/>
        </p:nvSpPr>
        <p:spPr>
          <a:xfrm>
            <a:off x="8173156" y="224790"/>
            <a:ext cx="3579164" cy="5890260"/>
          </a:xfrm>
          <a:custGeom>
            <a:avLst/>
            <a:gdLst/>
            <a:ahLst/>
            <a:cxnLst/>
            <a:rect l="l" t="t" r="r" b="b"/>
            <a:pathLst>
              <a:path w="5482971" h="9023371">
                <a:moveTo>
                  <a:pt x="0" y="0"/>
                </a:moveTo>
                <a:lnTo>
                  <a:pt x="5482971" y="0"/>
                </a:lnTo>
                <a:lnTo>
                  <a:pt x="5482971" y="9023371"/>
                </a:lnTo>
                <a:lnTo>
                  <a:pt x="0" y="90233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813" r="-48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Freeform 16"/>
          <p:cNvSpPr/>
          <p:nvPr/>
        </p:nvSpPr>
        <p:spPr>
          <a:xfrm>
            <a:off x="-737291" y="20170"/>
            <a:ext cx="2421311" cy="1325117"/>
          </a:xfrm>
          <a:custGeom>
            <a:avLst/>
            <a:gdLst/>
            <a:ahLst/>
            <a:cxnLst/>
            <a:rect l="l" t="t" r="r" b="b"/>
            <a:pathLst>
              <a:path w="3806571" h="2083232">
                <a:moveTo>
                  <a:pt x="0" y="0"/>
                </a:moveTo>
                <a:lnTo>
                  <a:pt x="3806571" y="0"/>
                </a:lnTo>
                <a:lnTo>
                  <a:pt x="3806571" y="2083233"/>
                </a:lnTo>
                <a:lnTo>
                  <a:pt x="0" y="2083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7" name="Group 10"/>
          <p:cNvGrpSpPr/>
          <p:nvPr/>
        </p:nvGrpSpPr>
        <p:grpSpPr>
          <a:xfrm>
            <a:off x="1442608" y="2545079"/>
            <a:ext cx="93827" cy="2399371"/>
            <a:chOff x="0" y="0"/>
            <a:chExt cx="26312" cy="672855"/>
          </a:xfrm>
        </p:grpSpPr>
        <p:sp>
          <p:nvSpPr>
            <p:cNvPr id="18" name="Freeform 11"/>
            <p:cNvSpPr/>
            <p:nvPr/>
          </p:nvSpPr>
          <p:spPr>
            <a:xfrm>
              <a:off x="0" y="0"/>
              <a:ext cx="26312" cy="672855"/>
            </a:xfrm>
            <a:custGeom>
              <a:avLst/>
              <a:gdLst/>
              <a:ahLst/>
              <a:cxnLst/>
              <a:rect l="l" t="t" r="r" b="b"/>
              <a:pathLst>
                <a:path w="26312" h="672855">
                  <a:moveTo>
                    <a:pt x="0" y="0"/>
                  </a:moveTo>
                  <a:lnTo>
                    <a:pt x="26312" y="0"/>
                  </a:lnTo>
                  <a:lnTo>
                    <a:pt x="26312" y="672855"/>
                  </a:lnTo>
                  <a:lnTo>
                    <a:pt x="0" y="672855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2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775459" y="2922931"/>
            <a:ext cx="9624009" cy="1012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6600" b="1" dirty="0">
                <a:solidFill>
                  <a:srgbClr val="0F2B42"/>
                </a:solidFill>
              </a:rPr>
              <a:t>Sesión Sincrónica</a:t>
            </a: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950719" y="4065051"/>
            <a:ext cx="9624009" cy="1012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6600" b="1" dirty="0" err="1" smtClean="0">
                <a:solidFill>
                  <a:srgbClr val="0F2B42"/>
                </a:solidFill>
              </a:rPr>
              <a:t>Semana</a:t>
            </a:r>
            <a:r>
              <a:rPr lang="en-US" sz="6600" b="1" dirty="0" smtClean="0">
                <a:solidFill>
                  <a:srgbClr val="0F2B42"/>
                </a:solidFill>
              </a:rPr>
              <a:t> </a:t>
            </a:r>
            <a:r>
              <a:rPr lang="en-US" sz="6600" b="1" dirty="0" smtClean="0">
                <a:solidFill>
                  <a:srgbClr val="0F2B42"/>
                </a:solidFill>
              </a:rPr>
              <a:t>2</a:t>
            </a:r>
            <a:endParaRPr lang="en-US" sz="6600" b="1" dirty="0">
              <a:solidFill>
                <a:srgbClr val="0F2B42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5E01895-7A45-CE11-EF16-8D8944724F71}"/>
              </a:ext>
            </a:extLst>
          </p:cNvPr>
          <p:cNvSpPr txBox="1"/>
          <p:nvPr/>
        </p:nvSpPr>
        <p:spPr>
          <a:xfrm>
            <a:off x="1811019" y="5730329"/>
            <a:ext cx="4836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Alonso Castillo</a:t>
            </a:r>
          </a:p>
          <a:p>
            <a:r>
              <a:rPr lang="es-ES" sz="2000" dirty="0"/>
              <a:t>Docente Campus Virtual Duoc UC</a:t>
            </a: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4282368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16"/>
          <p:cNvSpPr/>
          <p:nvPr/>
        </p:nvSpPr>
        <p:spPr>
          <a:xfrm>
            <a:off x="10541665" y="5532883"/>
            <a:ext cx="2421311" cy="1325117"/>
          </a:xfrm>
          <a:custGeom>
            <a:avLst/>
            <a:gdLst/>
            <a:ahLst/>
            <a:cxnLst/>
            <a:rect l="l" t="t" r="r" b="b"/>
            <a:pathLst>
              <a:path w="3806571" h="2083232">
                <a:moveTo>
                  <a:pt x="0" y="0"/>
                </a:moveTo>
                <a:lnTo>
                  <a:pt x="3806571" y="0"/>
                </a:lnTo>
                <a:lnTo>
                  <a:pt x="3806571" y="2083233"/>
                </a:lnTo>
                <a:lnTo>
                  <a:pt x="0" y="2083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7"/>
          <p:cNvGrpSpPr/>
          <p:nvPr/>
        </p:nvGrpSpPr>
        <p:grpSpPr>
          <a:xfrm>
            <a:off x="0" y="0"/>
            <a:ext cx="1684020" cy="6858000"/>
            <a:chOff x="0" y="0"/>
            <a:chExt cx="812800" cy="2976105"/>
          </a:xfrm>
        </p:grpSpPr>
        <p:sp>
          <p:nvSpPr>
            <p:cNvPr id="5" name="Freeform 8"/>
            <p:cNvSpPr/>
            <p:nvPr/>
          </p:nvSpPr>
          <p:spPr>
            <a:xfrm>
              <a:off x="0" y="0"/>
              <a:ext cx="812800" cy="2976105"/>
            </a:xfrm>
            <a:custGeom>
              <a:avLst/>
              <a:gdLst/>
              <a:ahLst/>
              <a:cxnLst/>
              <a:rect l="l" t="t" r="r" b="b"/>
              <a:pathLst>
                <a:path w="812800" h="2976105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lnTo>
                    <a:pt x="0" y="0"/>
                  </a:lnTo>
                </a:path>
              </a:pathLst>
            </a:custGeom>
            <a:solidFill>
              <a:srgbClr val="FABC1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9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-737291" y="20170"/>
            <a:ext cx="2421311" cy="1325117"/>
          </a:xfrm>
          <a:custGeom>
            <a:avLst/>
            <a:gdLst/>
            <a:ahLst/>
            <a:cxnLst/>
            <a:rect l="l" t="t" r="r" b="b"/>
            <a:pathLst>
              <a:path w="3806571" h="2083232">
                <a:moveTo>
                  <a:pt x="0" y="0"/>
                </a:moveTo>
                <a:lnTo>
                  <a:pt x="3806571" y="0"/>
                </a:lnTo>
                <a:lnTo>
                  <a:pt x="3806571" y="2083233"/>
                </a:lnTo>
                <a:lnTo>
                  <a:pt x="0" y="2083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2070099" y="333150"/>
            <a:ext cx="9624009" cy="1012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6600" b="1" dirty="0" err="1" smtClean="0">
                <a:solidFill>
                  <a:srgbClr val="0F2B42"/>
                </a:solidFill>
              </a:rPr>
              <a:t>Contenido</a:t>
            </a:r>
            <a:endParaRPr lang="en-US" sz="6600" b="1" dirty="0">
              <a:solidFill>
                <a:srgbClr val="0F2B42"/>
              </a:solidFill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CB0C67E4-59E2-78AC-A459-6423EB186E7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9304020" y="156152"/>
            <a:ext cx="2604654" cy="872936"/>
          </a:xfrm>
          <a:prstGeom prst="rect">
            <a:avLst/>
          </a:prstGeom>
        </p:spPr>
      </p:pic>
      <p:grpSp>
        <p:nvGrpSpPr>
          <p:cNvPr id="25" name="Group 2"/>
          <p:cNvGrpSpPr/>
          <p:nvPr/>
        </p:nvGrpSpPr>
        <p:grpSpPr>
          <a:xfrm>
            <a:off x="1902350" y="2006127"/>
            <a:ext cx="1278348" cy="2122698"/>
            <a:chOff x="0" y="0"/>
            <a:chExt cx="368852" cy="1198943"/>
          </a:xfrm>
        </p:grpSpPr>
        <p:sp>
          <p:nvSpPr>
            <p:cNvPr id="26" name="Freeform 3"/>
            <p:cNvSpPr/>
            <p:nvPr/>
          </p:nvSpPr>
          <p:spPr>
            <a:xfrm>
              <a:off x="0" y="0"/>
              <a:ext cx="368852" cy="1198943"/>
            </a:xfrm>
            <a:custGeom>
              <a:avLst/>
              <a:gdLst/>
              <a:ahLst/>
              <a:cxnLst/>
              <a:rect l="l" t="t" r="r" b="b"/>
              <a:pathLst>
                <a:path w="368852" h="1198943">
                  <a:moveTo>
                    <a:pt x="0" y="0"/>
                  </a:moveTo>
                  <a:lnTo>
                    <a:pt x="368852" y="0"/>
                  </a:lnTo>
                  <a:lnTo>
                    <a:pt x="368852" y="1198943"/>
                  </a:lnTo>
                  <a:lnTo>
                    <a:pt x="0" y="1198943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TextBox 4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14"/>
          <p:cNvSpPr txBox="1"/>
          <p:nvPr/>
        </p:nvSpPr>
        <p:spPr>
          <a:xfrm>
            <a:off x="2072914" y="2324039"/>
            <a:ext cx="937219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spc="350" dirty="0">
                <a:solidFill>
                  <a:srgbClr val="FBBC1E"/>
                </a:solidFill>
                <a:latin typeface="Codec Pro ExtraBold Italics"/>
              </a:rPr>
              <a:t>01</a:t>
            </a:r>
          </a:p>
        </p:txBody>
      </p:sp>
      <p:sp>
        <p:nvSpPr>
          <p:cNvPr id="29" name="TextBox 15"/>
          <p:cNvSpPr txBox="1"/>
          <p:nvPr/>
        </p:nvSpPr>
        <p:spPr>
          <a:xfrm>
            <a:off x="2072914" y="3089626"/>
            <a:ext cx="937219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spc="350" dirty="0">
                <a:solidFill>
                  <a:srgbClr val="FBBC1E"/>
                </a:solidFill>
                <a:latin typeface="Codec Pro ExtraBold Italics"/>
              </a:rPr>
              <a:t>02</a:t>
            </a:r>
          </a:p>
        </p:txBody>
      </p:sp>
      <p:sp>
        <p:nvSpPr>
          <p:cNvPr id="30" name="TextBox 19"/>
          <p:cNvSpPr txBox="1"/>
          <p:nvPr/>
        </p:nvSpPr>
        <p:spPr>
          <a:xfrm>
            <a:off x="3351262" y="2402284"/>
            <a:ext cx="6731547" cy="422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483"/>
              </a:lnSpc>
              <a:spcBef>
                <a:spcPct val="0"/>
              </a:spcBef>
            </a:pPr>
            <a:r>
              <a:rPr lang="es-ES" sz="2524" spc="247" dirty="0">
                <a:solidFill>
                  <a:srgbClr val="0F2B42"/>
                </a:solidFill>
              </a:rPr>
              <a:t>Temáticas clave de la semana</a:t>
            </a:r>
            <a:endParaRPr lang="en-US" sz="2524" spc="247" dirty="0">
              <a:solidFill>
                <a:srgbClr val="0F2B42"/>
              </a:solidFill>
            </a:endParaRPr>
          </a:p>
        </p:txBody>
      </p:sp>
      <p:sp>
        <p:nvSpPr>
          <p:cNvPr id="31" name="TextBox 19"/>
          <p:cNvSpPr txBox="1"/>
          <p:nvPr/>
        </p:nvSpPr>
        <p:spPr>
          <a:xfrm>
            <a:off x="3351261" y="3217948"/>
            <a:ext cx="6731547" cy="422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483"/>
              </a:lnSpc>
              <a:spcBef>
                <a:spcPct val="0"/>
              </a:spcBef>
            </a:pPr>
            <a:r>
              <a:rPr lang="es-ES" sz="2524" spc="247" dirty="0" smtClean="0">
                <a:solidFill>
                  <a:srgbClr val="0F2B42"/>
                </a:solidFill>
              </a:rPr>
              <a:t>Ejemplos prácticos</a:t>
            </a:r>
            <a:endParaRPr lang="en-US" sz="2524" spc="247" dirty="0">
              <a:solidFill>
                <a:srgbClr val="0F2B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280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84637" y="1548332"/>
            <a:ext cx="10848168" cy="3866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>
                <a:solidFill>
                  <a:srgbClr val="0F2B42"/>
                </a:solidFill>
              </a:rPr>
              <a:t>Conceptos básicos Spring: Contenedor </a:t>
            </a:r>
            <a:r>
              <a:rPr lang="es-ES" sz="2524" spc="247" dirty="0" err="1">
                <a:solidFill>
                  <a:srgbClr val="0F2B42"/>
                </a:solidFill>
              </a:rPr>
              <a:t>IoC</a:t>
            </a:r>
            <a:r>
              <a:rPr lang="es-ES" sz="2524" spc="247" dirty="0">
                <a:solidFill>
                  <a:srgbClr val="0F2B42"/>
                </a:solidFill>
              </a:rPr>
              <a:t> (</a:t>
            </a:r>
            <a:r>
              <a:rPr lang="es-ES" sz="2524" spc="247" dirty="0" err="1">
                <a:solidFill>
                  <a:srgbClr val="0F2B42"/>
                </a:solidFill>
              </a:rPr>
              <a:t>Inversion</a:t>
            </a:r>
            <a:r>
              <a:rPr lang="es-ES" sz="2524" spc="247" dirty="0">
                <a:solidFill>
                  <a:srgbClr val="0F2B42"/>
                </a:solidFill>
              </a:rPr>
              <a:t> of Control</a:t>
            </a:r>
            <a:r>
              <a:rPr lang="es-ES" sz="2524" spc="247" dirty="0" smtClean="0">
                <a:solidFill>
                  <a:srgbClr val="0F2B42"/>
                </a:solidFill>
              </a:rPr>
              <a:t>).</a:t>
            </a:r>
            <a:endParaRPr lang="es-ES" sz="2524" spc="247" dirty="0" smtClean="0">
              <a:solidFill>
                <a:srgbClr val="0F2B42"/>
              </a:solidFill>
            </a:endParaRP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Spring </a:t>
            </a:r>
            <a:r>
              <a:rPr lang="es-ES" sz="2000" spc="247" dirty="0">
                <a:solidFill>
                  <a:srgbClr val="0F2B42"/>
                </a:solidFill>
              </a:rPr>
              <a:t>utiliza un contenedor </a:t>
            </a:r>
            <a:r>
              <a:rPr lang="es-ES" sz="2000" spc="247" dirty="0" err="1">
                <a:solidFill>
                  <a:srgbClr val="0F2B42"/>
                </a:solidFill>
              </a:rPr>
              <a:t>IoC</a:t>
            </a:r>
            <a:r>
              <a:rPr lang="es-ES" sz="2000" spc="247" dirty="0">
                <a:solidFill>
                  <a:srgbClr val="0F2B42"/>
                </a:solidFill>
              </a:rPr>
              <a:t> (</a:t>
            </a:r>
            <a:r>
              <a:rPr lang="es-ES" sz="2000" spc="247" dirty="0" err="1">
                <a:solidFill>
                  <a:srgbClr val="0F2B42"/>
                </a:solidFill>
              </a:rPr>
              <a:t>Inversion</a:t>
            </a:r>
            <a:r>
              <a:rPr lang="es-ES" sz="2000" spc="247" dirty="0">
                <a:solidFill>
                  <a:srgbClr val="0F2B42"/>
                </a:solidFill>
              </a:rPr>
              <a:t> of Control</a:t>
            </a:r>
            <a:r>
              <a:rPr lang="es-ES" sz="2000" spc="247" dirty="0" smtClean="0">
                <a:solidFill>
                  <a:srgbClr val="0F2B42"/>
                </a:solidFill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El </a:t>
            </a:r>
            <a:r>
              <a:rPr lang="es-ES" sz="2000" spc="247" dirty="0">
                <a:solidFill>
                  <a:srgbClr val="0F2B42"/>
                </a:solidFill>
              </a:rPr>
              <a:t>contenedor se encarga de crear y gestionar los objetos de la </a:t>
            </a:r>
            <a:r>
              <a:rPr lang="es-ES" sz="2000" spc="247" dirty="0" smtClean="0">
                <a:solidFill>
                  <a:srgbClr val="0F2B42"/>
                </a:solidFill>
              </a:rPr>
              <a:t>aplicación.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Los </a:t>
            </a:r>
            <a:r>
              <a:rPr lang="es-ES" sz="2000" spc="247" dirty="0">
                <a:solidFill>
                  <a:srgbClr val="0F2B42"/>
                </a:solidFill>
              </a:rPr>
              <a:t>objetos gestionados por Spring se llaman </a:t>
            </a:r>
            <a:r>
              <a:rPr lang="es-ES" sz="2000" spc="247" dirty="0" err="1" smtClean="0">
                <a:solidFill>
                  <a:srgbClr val="0F2B42"/>
                </a:solidFill>
              </a:rPr>
              <a:t>Beans</a:t>
            </a:r>
            <a:r>
              <a:rPr lang="es-ES" sz="2000" spc="247" dirty="0" smtClean="0">
                <a:solidFill>
                  <a:srgbClr val="0F2B42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Spring </a:t>
            </a:r>
            <a:r>
              <a:rPr lang="es-ES" sz="2000" spc="247" dirty="0">
                <a:solidFill>
                  <a:srgbClr val="0F2B42"/>
                </a:solidFill>
              </a:rPr>
              <a:t>controla el ciclo de vida de los </a:t>
            </a:r>
            <a:r>
              <a:rPr lang="es-ES" sz="2000" spc="247" dirty="0" smtClean="0">
                <a:solidFill>
                  <a:srgbClr val="0F2B42"/>
                </a:solidFill>
              </a:rPr>
              <a:t>objetos.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Permite </a:t>
            </a:r>
            <a:r>
              <a:rPr lang="es-ES" sz="2000" spc="247" dirty="0">
                <a:solidFill>
                  <a:srgbClr val="0F2B42"/>
                </a:solidFill>
              </a:rPr>
              <a:t>que los componentes estén desacoplados.</a:t>
            </a:r>
            <a:endParaRPr lang="es-ES" sz="2000" spc="247" dirty="0" smtClean="0">
              <a:solidFill>
                <a:srgbClr val="0F2B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735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84637" y="1548332"/>
            <a:ext cx="10848168" cy="480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>
                <a:solidFill>
                  <a:srgbClr val="0F2B42"/>
                </a:solidFill>
              </a:rPr>
              <a:t>Conceptos básicos Spring: Contenedor </a:t>
            </a:r>
            <a:r>
              <a:rPr lang="es-ES" sz="2524" spc="247" dirty="0" err="1">
                <a:solidFill>
                  <a:srgbClr val="0F2B42"/>
                </a:solidFill>
              </a:rPr>
              <a:t>IoC</a:t>
            </a:r>
            <a:r>
              <a:rPr lang="es-ES" sz="2524" spc="247" dirty="0">
                <a:solidFill>
                  <a:srgbClr val="0F2B42"/>
                </a:solidFill>
              </a:rPr>
              <a:t> (</a:t>
            </a:r>
            <a:r>
              <a:rPr lang="es-ES" sz="2524" spc="247" dirty="0" err="1">
                <a:solidFill>
                  <a:srgbClr val="0F2B42"/>
                </a:solidFill>
              </a:rPr>
              <a:t>Inversion</a:t>
            </a:r>
            <a:r>
              <a:rPr lang="es-ES" sz="2524" spc="247" dirty="0">
                <a:solidFill>
                  <a:srgbClr val="0F2B42"/>
                </a:solidFill>
              </a:rPr>
              <a:t> of Control</a:t>
            </a:r>
            <a:r>
              <a:rPr lang="es-ES" sz="2524" spc="247" dirty="0" smtClean="0">
                <a:solidFill>
                  <a:srgbClr val="0F2B42"/>
                </a:solidFill>
              </a:rPr>
              <a:t>).</a:t>
            </a:r>
            <a:endParaRPr lang="es-ES" sz="2524" spc="247" dirty="0" smtClean="0">
              <a:solidFill>
                <a:srgbClr val="0F2B42"/>
              </a:solidFill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4B804F31-2D73-47C5-8554-BA5D3ACBF8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079" y="3086102"/>
            <a:ext cx="4143778" cy="14642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7">
            <a:extLst>
              <a:ext uri="{FF2B5EF4-FFF2-40B4-BE49-F238E27FC236}">
                <a16:creationId xmlns:a16="http://schemas.microsoft.com/office/drawing/2014/main" id="{1BAFE0FD-C811-4DCC-8D92-FB629E4991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04942" y="3086102"/>
            <a:ext cx="3747199" cy="16664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0C6106-B470-4D96-8B13-E85516E6738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04942" y="4962454"/>
            <a:ext cx="3194319" cy="16981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F03F7D3-C642-43F1-AD72-FBB8728C661A}"/>
              </a:ext>
            </a:extLst>
          </p:cNvPr>
          <p:cNvSpPr txBox="1">
            <a:spLocks/>
          </p:cNvSpPr>
          <p:nvPr/>
        </p:nvSpPr>
        <p:spPr>
          <a:xfrm>
            <a:off x="703802" y="2702030"/>
            <a:ext cx="4185623" cy="38851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z="2524" spc="247" dirty="0">
                <a:solidFill>
                  <a:srgbClr val="0F2B42"/>
                </a:solidFill>
              </a:rPr>
              <a:t>Vía</a:t>
            </a:r>
            <a:r>
              <a:rPr lang="es-CL" dirty="0" smtClean="0"/>
              <a:t> </a:t>
            </a:r>
            <a:r>
              <a:rPr lang="es-CL" sz="2524" spc="247" dirty="0">
                <a:solidFill>
                  <a:srgbClr val="0F2B42"/>
                </a:solidFill>
              </a:rPr>
              <a:t>XML</a:t>
            </a:r>
            <a:endParaRPr lang="en-US" sz="2524" spc="247" dirty="0">
              <a:solidFill>
                <a:srgbClr val="0F2B42"/>
              </a:solidFill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F59F400-7B1B-412B-B038-AB365BC3784F}"/>
              </a:ext>
            </a:extLst>
          </p:cNvPr>
          <p:cNvSpPr txBox="1">
            <a:spLocks/>
          </p:cNvSpPr>
          <p:nvPr/>
        </p:nvSpPr>
        <p:spPr>
          <a:xfrm>
            <a:off x="6753481" y="2615823"/>
            <a:ext cx="1650119" cy="41645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L" sz="2300" spc="247" dirty="0">
                <a:solidFill>
                  <a:srgbClr val="0F2B42"/>
                </a:solidFill>
              </a:rPr>
              <a:t>Vía java</a:t>
            </a:r>
            <a:endParaRPr lang="en-US" sz="2300" spc="247" dirty="0">
              <a:solidFill>
                <a:srgbClr val="0F2B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28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84637" y="1548332"/>
            <a:ext cx="10848168" cy="3558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>
                <a:solidFill>
                  <a:srgbClr val="0F2B42"/>
                </a:solidFill>
              </a:rPr>
              <a:t>Conceptos básicos Spring: Inyección de Dependencia (DI</a:t>
            </a:r>
            <a:r>
              <a:rPr lang="es-ES" sz="2524" spc="247" dirty="0" smtClean="0">
                <a:solidFill>
                  <a:srgbClr val="0F2B42"/>
                </a:solidFill>
              </a:rPr>
              <a:t>).</a:t>
            </a:r>
            <a:endParaRPr lang="es-ES" sz="2524" spc="247" dirty="0" smtClean="0">
              <a:solidFill>
                <a:srgbClr val="0F2B42"/>
              </a:solidFill>
            </a:endParaRP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>
                <a:solidFill>
                  <a:srgbClr val="0F2B42"/>
                </a:solidFill>
              </a:rPr>
              <a:t>Es un principio que permite entregar dependencias a una clase desde el </a:t>
            </a:r>
            <a:r>
              <a:rPr lang="es-ES" sz="2000" spc="247" dirty="0" smtClean="0">
                <a:solidFill>
                  <a:srgbClr val="0F2B42"/>
                </a:solidFill>
              </a:rPr>
              <a:t>exterior.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Evita </a:t>
            </a:r>
            <a:r>
              <a:rPr lang="es-ES" sz="2000" spc="247" dirty="0">
                <a:solidFill>
                  <a:srgbClr val="0F2B42"/>
                </a:solidFill>
              </a:rPr>
              <a:t>que una clase cree sus propios </a:t>
            </a:r>
            <a:r>
              <a:rPr lang="es-ES" sz="2000" spc="247" dirty="0" smtClean="0">
                <a:solidFill>
                  <a:srgbClr val="0F2B42"/>
                </a:solidFill>
              </a:rPr>
              <a:t>objetos.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Spring </a:t>
            </a:r>
            <a:r>
              <a:rPr lang="es-ES" sz="2000" spc="247" dirty="0">
                <a:solidFill>
                  <a:srgbClr val="0F2B42"/>
                </a:solidFill>
              </a:rPr>
              <a:t>usa el contenedor </a:t>
            </a:r>
            <a:r>
              <a:rPr lang="es-ES" sz="2000" spc="247" dirty="0" err="1">
                <a:solidFill>
                  <a:srgbClr val="0F2B42"/>
                </a:solidFill>
              </a:rPr>
              <a:t>IoC</a:t>
            </a:r>
            <a:r>
              <a:rPr lang="es-ES" sz="2000" spc="247" dirty="0">
                <a:solidFill>
                  <a:srgbClr val="0F2B42"/>
                </a:solidFill>
              </a:rPr>
              <a:t> para inyectar dependencias </a:t>
            </a:r>
            <a:r>
              <a:rPr lang="es-ES" sz="2000" spc="247" dirty="0" smtClean="0">
                <a:solidFill>
                  <a:srgbClr val="0F2B42"/>
                </a:solidFill>
              </a:rPr>
              <a:t>automáticamente.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Facilita </a:t>
            </a:r>
            <a:r>
              <a:rPr lang="es-ES" sz="2000" spc="247" dirty="0">
                <a:solidFill>
                  <a:srgbClr val="0F2B42"/>
                </a:solidFill>
              </a:rPr>
              <a:t>modularidad, mantenimiento y </a:t>
            </a:r>
            <a:r>
              <a:rPr lang="es-ES" sz="2000" spc="247" dirty="0" smtClean="0">
                <a:solidFill>
                  <a:srgbClr val="0F2B42"/>
                </a:solidFill>
              </a:rPr>
              <a:t>pruebas unitarias.</a:t>
            </a:r>
            <a:endParaRPr lang="es-ES" sz="2000" spc="247" dirty="0">
              <a:solidFill>
                <a:srgbClr val="0F2B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082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84637" y="1548332"/>
            <a:ext cx="10848168" cy="480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>
                <a:solidFill>
                  <a:srgbClr val="0F2B42"/>
                </a:solidFill>
              </a:rPr>
              <a:t>Conceptos básicos Spring: Inyección de Dependencia (DI</a:t>
            </a:r>
            <a:r>
              <a:rPr lang="es-ES" sz="2524" spc="247" dirty="0" smtClean="0">
                <a:solidFill>
                  <a:srgbClr val="0F2B42"/>
                </a:solidFill>
              </a:rPr>
              <a:t>).</a:t>
            </a:r>
            <a:endParaRPr lang="es-ES" sz="2524" spc="247" dirty="0" smtClean="0">
              <a:solidFill>
                <a:srgbClr val="0F2B42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72D08E3-16D7-4D36-B7C7-1F83213BAA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215185"/>
              </p:ext>
            </p:extLst>
          </p:nvPr>
        </p:nvGraphicFramePr>
        <p:xfrm>
          <a:off x="1947041" y="2274177"/>
          <a:ext cx="6822528" cy="43888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4473">
                  <a:extLst>
                    <a:ext uri="{9D8B030D-6E8A-4147-A177-3AD203B41FA5}">
                      <a16:colId xmlns:a16="http://schemas.microsoft.com/office/drawing/2014/main" val="1898963322"/>
                    </a:ext>
                  </a:extLst>
                </a:gridCol>
                <a:gridCol w="2513879">
                  <a:extLst>
                    <a:ext uri="{9D8B030D-6E8A-4147-A177-3AD203B41FA5}">
                      <a16:colId xmlns:a16="http://schemas.microsoft.com/office/drawing/2014/main" val="3802746076"/>
                    </a:ext>
                  </a:extLst>
                </a:gridCol>
                <a:gridCol w="2274176">
                  <a:extLst>
                    <a:ext uri="{9D8B030D-6E8A-4147-A177-3AD203B41FA5}">
                      <a16:colId xmlns:a16="http://schemas.microsoft.com/office/drawing/2014/main" val="1076197406"/>
                    </a:ext>
                  </a:extLst>
                </a:gridCol>
              </a:tblGrid>
              <a:tr h="1462934">
                <a:tc>
                  <a:txBody>
                    <a:bodyPr/>
                    <a:lstStyle/>
                    <a:p>
                      <a:r>
                        <a:rPr lang="es-CL" dirty="0"/>
                        <a:t>Clase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63493"/>
                  </a:ext>
                </a:extLst>
              </a:tr>
              <a:tr h="1462934">
                <a:tc>
                  <a:txBody>
                    <a:bodyPr/>
                    <a:lstStyle/>
                    <a:p>
                      <a:r>
                        <a:rPr lang="es-CL" dirty="0"/>
                        <a:t>Clase B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079678"/>
                  </a:ext>
                </a:extLst>
              </a:tr>
              <a:tr h="1462934">
                <a:tc>
                  <a:txBody>
                    <a:bodyPr/>
                    <a:lstStyle/>
                    <a:p>
                      <a:r>
                        <a:rPr lang="es-CL" dirty="0"/>
                        <a:t>Contenedor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622826"/>
                  </a:ext>
                </a:extLst>
              </a:tr>
            </a:tbl>
          </a:graphicData>
        </a:graphic>
      </p:graphicFrame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7AA36AC-55C0-4754-B113-E09E3F9C9C64}"/>
              </a:ext>
            </a:extLst>
          </p:cNvPr>
          <p:cNvSpPr txBox="1">
            <a:spLocks/>
          </p:cNvSpPr>
          <p:nvPr/>
        </p:nvSpPr>
        <p:spPr>
          <a:xfrm>
            <a:off x="4565024" y="2029105"/>
            <a:ext cx="917379" cy="469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smtClean="0"/>
              <a:t>Con DI</a:t>
            </a:r>
            <a:endParaRPr lang="en-US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B62ED54-A333-49CC-B276-24C22C552055}"/>
              </a:ext>
            </a:extLst>
          </p:cNvPr>
          <p:cNvSpPr txBox="1">
            <a:spLocks/>
          </p:cNvSpPr>
          <p:nvPr/>
        </p:nvSpPr>
        <p:spPr>
          <a:xfrm>
            <a:off x="7234529" y="1915380"/>
            <a:ext cx="1243983" cy="46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L" sz="2000" dirty="0" smtClean="0"/>
              <a:t>Sin</a:t>
            </a:r>
            <a:r>
              <a:rPr lang="es-CL" dirty="0" smtClean="0"/>
              <a:t> </a:t>
            </a:r>
            <a:r>
              <a:rPr lang="es-CL" sz="2000" dirty="0" smtClean="0"/>
              <a:t>DI</a:t>
            </a:r>
            <a:endParaRPr lang="en-US" dirty="0"/>
          </a:p>
        </p:txBody>
      </p:sp>
      <p:pic>
        <p:nvPicPr>
          <p:cNvPr id="13" name="Picture 7">
            <a:extLst>
              <a:ext uri="{FF2B5EF4-FFF2-40B4-BE49-F238E27FC236}">
                <a16:creationId xmlns:a16="http://schemas.microsoft.com/office/drawing/2014/main" id="{1C8288F6-A6F8-4686-A571-C5F7CB1CF2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1384" y="2338591"/>
            <a:ext cx="1671659" cy="12981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0">
            <a:extLst>
              <a:ext uri="{FF2B5EF4-FFF2-40B4-BE49-F238E27FC236}">
                <a16:creationId xmlns:a16="http://schemas.microsoft.com/office/drawing/2014/main" id="{F1B2C621-9B9E-4774-BDA7-094A821A8E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1777" y="2395252"/>
            <a:ext cx="1617322" cy="11614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2">
            <a:extLst>
              <a:ext uri="{FF2B5EF4-FFF2-40B4-BE49-F238E27FC236}">
                <a16:creationId xmlns:a16="http://schemas.microsoft.com/office/drawing/2014/main" id="{56A68DA9-6FC7-4AE7-AFB3-61AA1C8D25D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4478" y="3881802"/>
            <a:ext cx="2469549" cy="11190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4">
            <a:extLst>
              <a:ext uri="{FF2B5EF4-FFF2-40B4-BE49-F238E27FC236}">
                <a16:creationId xmlns:a16="http://schemas.microsoft.com/office/drawing/2014/main" id="{47AE258E-6FD8-4CC1-B00F-74522972313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28480" y="5368406"/>
            <a:ext cx="2157468" cy="11614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" name="Picture 16">
            <a:extLst>
              <a:ext uri="{FF2B5EF4-FFF2-40B4-BE49-F238E27FC236}">
                <a16:creationId xmlns:a16="http://schemas.microsoft.com/office/drawing/2014/main" id="{71B53CC2-C79A-4532-ACC1-FB44F522776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6400" y="5429596"/>
            <a:ext cx="2088077" cy="10390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1101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s-CL" sz="4400" b="1" dirty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1469" y="2546133"/>
            <a:ext cx="6094094" cy="3120314"/>
          </a:xfrm>
          <a:prstGeom prst="rect">
            <a:avLst/>
          </a:prstGeom>
        </p:spPr>
      </p:pic>
      <p:sp>
        <p:nvSpPr>
          <p:cNvPr id="16" name="Rectángulo 15"/>
          <p:cNvSpPr/>
          <p:nvPr/>
        </p:nvSpPr>
        <p:spPr>
          <a:xfrm>
            <a:off x="506100" y="1506885"/>
            <a:ext cx="9785131" cy="480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 smtClean="0">
                <a:solidFill>
                  <a:srgbClr val="0F2B42"/>
                </a:solidFill>
              </a:rPr>
              <a:t>Arquitectura </a:t>
            </a:r>
            <a:r>
              <a:rPr lang="es-ES" sz="2524" spc="247" dirty="0">
                <a:solidFill>
                  <a:srgbClr val="0F2B42"/>
                </a:solidFill>
              </a:rPr>
              <a:t>de </a:t>
            </a:r>
            <a:r>
              <a:rPr lang="es-ES" sz="2524" spc="247" dirty="0" smtClean="0">
                <a:solidFill>
                  <a:srgbClr val="0F2B42"/>
                </a:solidFill>
              </a:rPr>
              <a:t>microservicios.</a:t>
            </a:r>
            <a:endParaRPr lang="es-ES" sz="2000" spc="247" dirty="0" smtClean="0">
              <a:solidFill>
                <a:srgbClr val="0F2B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205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s-CL" sz="4400" b="1" dirty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16" name="Rectángulo 15"/>
          <p:cNvSpPr/>
          <p:nvPr/>
        </p:nvSpPr>
        <p:spPr>
          <a:xfrm>
            <a:off x="506100" y="1506885"/>
            <a:ext cx="9785131" cy="480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 smtClean="0">
                <a:solidFill>
                  <a:srgbClr val="0F2B42"/>
                </a:solidFill>
              </a:rPr>
              <a:t>Arquitectura </a:t>
            </a:r>
            <a:r>
              <a:rPr lang="es-ES" sz="2524" spc="247" dirty="0" smtClean="0">
                <a:solidFill>
                  <a:srgbClr val="0F2B42"/>
                </a:solidFill>
              </a:rPr>
              <a:t>interna de un </a:t>
            </a:r>
            <a:r>
              <a:rPr lang="es-ES" sz="2524" spc="247" dirty="0" err="1" smtClean="0">
                <a:solidFill>
                  <a:srgbClr val="0F2B42"/>
                </a:solidFill>
              </a:rPr>
              <a:t>microservicio</a:t>
            </a:r>
            <a:r>
              <a:rPr lang="es-ES" sz="2524" spc="247" dirty="0" smtClean="0">
                <a:solidFill>
                  <a:srgbClr val="0F2B42"/>
                </a:solidFill>
              </a:rPr>
              <a:t>.</a:t>
            </a:r>
            <a:endParaRPr lang="es-ES" sz="2000" spc="247" dirty="0" smtClean="0">
              <a:solidFill>
                <a:srgbClr val="0F2B42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5044" y="2356469"/>
            <a:ext cx="5963307" cy="20572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742040"/>
              </p:ext>
            </p:extLst>
          </p:nvPr>
        </p:nvGraphicFramePr>
        <p:xfrm>
          <a:off x="2355044" y="4600378"/>
          <a:ext cx="6047828" cy="21945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96549">
                  <a:extLst>
                    <a:ext uri="{9D8B030D-6E8A-4147-A177-3AD203B41FA5}">
                      <a16:colId xmlns:a16="http://schemas.microsoft.com/office/drawing/2014/main" val="3078746882"/>
                    </a:ext>
                  </a:extLst>
                </a:gridCol>
                <a:gridCol w="4451279">
                  <a:extLst>
                    <a:ext uri="{9D8B030D-6E8A-4147-A177-3AD203B41FA5}">
                      <a16:colId xmlns:a16="http://schemas.microsoft.com/office/drawing/2014/main" val="4076671098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r>
                        <a:rPr lang="es-CL" sz="1200" dirty="0" smtClean="0"/>
                        <a:t>Tipo</a:t>
                      </a:r>
                      <a:r>
                        <a:rPr lang="es-CL" sz="1200" baseline="0" dirty="0" smtClean="0"/>
                        <a:t> de clase</a:t>
                      </a:r>
                      <a:endParaRPr lang="es-C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200" dirty="0" smtClean="0"/>
                        <a:t>Uso</a:t>
                      </a:r>
                      <a:endParaRPr lang="es-C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91206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es-CL" sz="1200" dirty="0" err="1" smtClean="0"/>
                        <a:t>Controller</a:t>
                      </a:r>
                      <a:endParaRPr lang="es-C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200" dirty="0" smtClean="0"/>
                        <a:t>Puerta de entrada al microservicio. Acá se definen los </a:t>
                      </a:r>
                      <a:r>
                        <a:rPr lang="es-CL" sz="1200" dirty="0" err="1" smtClean="0"/>
                        <a:t>endpoints</a:t>
                      </a:r>
                      <a:endParaRPr lang="es-C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00396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es-CL" sz="1200" dirty="0" err="1" smtClean="0"/>
                        <a:t>Service</a:t>
                      </a:r>
                      <a:endParaRPr lang="es-C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200" dirty="0" smtClean="0"/>
                        <a:t>Lógica de negocio del microservicio. Conecta con capas encargadas de salir</a:t>
                      </a:r>
                      <a:r>
                        <a:rPr lang="es-CL" sz="1200" baseline="0" dirty="0" smtClean="0"/>
                        <a:t> a otros componentes como bases de datos y otros </a:t>
                      </a:r>
                      <a:r>
                        <a:rPr lang="es-CL" sz="1200" baseline="0" dirty="0" err="1" smtClean="0"/>
                        <a:t>microservicios</a:t>
                      </a:r>
                      <a:r>
                        <a:rPr lang="es-CL" sz="1200" baseline="0" dirty="0" smtClean="0"/>
                        <a:t>.</a:t>
                      </a:r>
                      <a:endParaRPr lang="es-C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68419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es-CL" sz="1200" dirty="0" err="1" smtClean="0"/>
                        <a:t>Repository</a:t>
                      </a:r>
                      <a:endParaRPr lang="es-C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200" dirty="0" smtClean="0"/>
                        <a:t>Interfaz o clase que permite comunicar</a:t>
                      </a:r>
                      <a:r>
                        <a:rPr lang="es-CL" sz="1200" baseline="0" dirty="0" smtClean="0"/>
                        <a:t> el microservicio con una base de datos.</a:t>
                      </a:r>
                      <a:endParaRPr lang="es-C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90577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es-CL" sz="1200" dirty="0" smtClean="0"/>
                        <a:t>DTO</a:t>
                      </a:r>
                      <a:endParaRPr lang="es-C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200" dirty="0" smtClean="0"/>
                        <a:t>Clase que representa un objeto de entrada.</a:t>
                      </a:r>
                      <a:endParaRPr lang="es-C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34224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es-CL" sz="1200" dirty="0" err="1" smtClean="0"/>
                        <a:t>Entity</a:t>
                      </a:r>
                      <a:endParaRPr lang="es-C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200" dirty="0" smtClean="0"/>
                        <a:t>Clase que representa una tabla de la base de datos.</a:t>
                      </a:r>
                      <a:endParaRPr lang="es-C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135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4202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84637" y="1548332"/>
            <a:ext cx="10848168" cy="3250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>
                <a:solidFill>
                  <a:srgbClr val="0F2B42"/>
                </a:solidFill>
              </a:rPr>
              <a:t>¿Qué es una API en microservicios</a:t>
            </a:r>
            <a:r>
              <a:rPr lang="es-ES" sz="2524" spc="247" dirty="0" smtClean="0">
                <a:solidFill>
                  <a:srgbClr val="0F2B42"/>
                </a:solidFill>
              </a:rPr>
              <a:t>?</a:t>
            </a:r>
          </a:p>
          <a:p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Una API permite que un </a:t>
            </a:r>
            <a:r>
              <a:rPr lang="es-ES" sz="2000" spc="247" dirty="0" err="1" smtClean="0">
                <a:solidFill>
                  <a:srgbClr val="0F2B42"/>
                </a:solidFill>
              </a:rPr>
              <a:t>microservicio</a:t>
            </a:r>
            <a:r>
              <a:rPr lang="es-ES" sz="2000" spc="247" dirty="0" smtClean="0">
                <a:solidFill>
                  <a:srgbClr val="0F2B42"/>
                </a:solidFill>
              </a:rPr>
              <a:t> se comunique con otros sistemas o servicios.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Expone funcionalidades mediante endpoints.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Cada endpoint representa una acción sobre un recurso.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En </a:t>
            </a:r>
            <a:r>
              <a:rPr lang="es-ES" sz="2000" spc="247" dirty="0" err="1" smtClean="0">
                <a:solidFill>
                  <a:srgbClr val="0F2B42"/>
                </a:solidFill>
              </a:rPr>
              <a:t>microservicios</a:t>
            </a:r>
            <a:r>
              <a:rPr lang="es-ES" sz="2000" spc="247" dirty="0" smtClean="0">
                <a:solidFill>
                  <a:srgbClr val="0F2B42"/>
                </a:solidFill>
              </a:rPr>
              <a:t>, las </a:t>
            </a:r>
            <a:r>
              <a:rPr lang="es-ES" sz="2000" spc="247" dirty="0" err="1" smtClean="0">
                <a:solidFill>
                  <a:srgbClr val="0F2B42"/>
                </a:solidFill>
              </a:rPr>
              <a:t>APIs</a:t>
            </a:r>
            <a:r>
              <a:rPr lang="es-ES" sz="2000" spc="247" dirty="0" smtClean="0">
                <a:solidFill>
                  <a:srgbClr val="0F2B42"/>
                </a:solidFill>
              </a:rPr>
              <a:t> suelen construirse con HTTP + REST.</a:t>
            </a:r>
          </a:p>
        </p:txBody>
      </p:sp>
    </p:spTree>
    <p:extLst>
      <p:ext uri="{BB962C8B-B14F-4D97-AF65-F5344CB8AC3E}">
        <p14:creationId xmlns:p14="http://schemas.microsoft.com/office/powerpoint/2010/main" val="141695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84637" y="1548332"/>
            <a:ext cx="10848168" cy="2942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>
                <a:solidFill>
                  <a:srgbClr val="0F2B42"/>
                </a:solidFill>
              </a:rPr>
              <a:t>Métodos HTTP más </a:t>
            </a:r>
            <a:r>
              <a:rPr lang="es-ES" sz="2524" spc="247" dirty="0" smtClean="0">
                <a:solidFill>
                  <a:srgbClr val="0F2B42"/>
                </a:solidFill>
              </a:rPr>
              <a:t>utilizados.</a:t>
            </a:r>
          </a:p>
          <a:p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GET: </a:t>
            </a:r>
            <a:r>
              <a:rPr lang="es-ES" sz="2000" spc="247" dirty="0">
                <a:solidFill>
                  <a:srgbClr val="0F2B42"/>
                </a:solidFill>
              </a:rPr>
              <a:t>consultar </a:t>
            </a:r>
            <a:r>
              <a:rPr lang="es-ES" sz="2000" spc="247" dirty="0" smtClean="0">
                <a:solidFill>
                  <a:srgbClr val="0F2B42"/>
                </a:solidFill>
              </a:rPr>
              <a:t>información.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POST: </a:t>
            </a:r>
            <a:r>
              <a:rPr lang="es-ES" sz="2000" spc="247" dirty="0">
                <a:solidFill>
                  <a:srgbClr val="0F2B42"/>
                </a:solidFill>
              </a:rPr>
              <a:t>crear un nuevo </a:t>
            </a:r>
            <a:r>
              <a:rPr lang="es-ES" sz="2000" spc="247" dirty="0" smtClean="0">
                <a:solidFill>
                  <a:srgbClr val="0F2B42"/>
                </a:solidFill>
              </a:rPr>
              <a:t>recurso.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PUT: </a:t>
            </a:r>
            <a:r>
              <a:rPr lang="es-ES" sz="2000" spc="247" dirty="0">
                <a:solidFill>
                  <a:srgbClr val="0F2B42"/>
                </a:solidFill>
              </a:rPr>
              <a:t>actualizar un recurso </a:t>
            </a:r>
            <a:r>
              <a:rPr lang="es-ES" sz="2000" spc="247" dirty="0" smtClean="0">
                <a:solidFill>
                  <a:srgbClr val="0F2B42"/>
                </a:solidFill>
              </a:rPr>
              <a:t>existente.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DELETE: </a:t>
            </a:r>
            <a:r>
              <a:rPr lang="es-ES" sz="2000" spc="247" dirty="0">
                <a:solidFill>
                  <a:srgbClr val="0F2B42"/>
                </a:solidFill>
              </a:rPr>
              <a:t>eliminar un recurso.</a:t>
            </a:r>
            <a:endParaRPr lang="es-ES" sz="2000" spc="247" dirty="0" smtClean="0">
              <a:solidFill>
                <a:srgbClr val="0F2B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193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84637" y="1548332"/>
            <a:ext cx="10848168" cy="1176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>
                <a:solidFill>
                  <a:srgbClr val="0F2B42"/>
                </a:solidFill>
              </a:rPr>
              <a:t>Métodos HTTP más </a:t>
            </a:r>
            <a:r>
              <a:rPr lang="es-ES" sz="2524" spc="247" dirty="0" smtClean="0">
                <a:solidFill>
                  <a:srgbClr val="0F2B42"/>
                </a:solidFill>
              </a:rPr>
              <a:t>utilizados.</a:t>
            </a:r>
          </a:p>
          <a:p>
            <a:endParaRPr lang="es-ES" sz="2524" spc="247" dirty="0">
              <a:solidFill>
                <a:srgbClr val="0F2B42"/>
              </a:solidFill>
            </a:endParaRPr>
          </a:p>
          <a:p>
            <a:r>
              <a:rPr lang="es-ES" sz="2000" spc="247" dirty="0" smtClean="0">
                <a:solidFill>
                  <a:srgbClr val="0F2B42"/>
                </a:solidFill>
              </a:rPr>
              <a:t>Ejemplo:</a:t>
            </a: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/>
          </p:nvPr>
        </p:nvGraphicFramePr>
        <p:xfrm>
          <a:off x="1291021" y="3592932"/>
          <a:ext cx="6336559" cy="2225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51169">
                  <a:extLst>
                    <a:ext uri="{9D8B030D-6E8A-4147-A177-3AD203B41FA5}">
                      <a16:colId xmlns:a16="http://schemas.microsoft.com/office/drawing/2014/main" val="1062791667"/>
                    </a:ext>
                  </a:extLst>
                </a:gridCol>
                <a:gridCol w="2376057">
                  <a:extLst>
                    <a:ext uri="{9D8B030D-6E8A-4147-A177-3AD203B41FA5}">
                      <a16:colId xmlns:a16="http://schemas.microsoft.com/office/drawing/2014/main" val="238330675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81859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L" dirty="0" smtClean="0"/>
                        <a:t>Verbo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Endpoint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Uso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363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 smtClean="0"/>
                        <a:t>GET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/usuarios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listar usuarios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95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 smtClean="0"/>
                        <a:t>GET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/usuarios/1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buscar usuario por ID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450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 smtClean="0"/>
                        <a:t>POST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/usuarios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crear usuario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245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 smtClean="0"/>
                        <a:t>PUT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/usuarios/1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actualizar usuario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243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 smtClean="0"/>
                        <a:t>DELETE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/usuarios/1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eliminar usuario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054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3611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9511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Ejemplos</a:t>
            </a:r>
            <a:r>
              <a:rPr lang="en-US" sz="4400" b="1" dirty="0" smtClean="0">
                <a:solidFill>
                  <a:srgbClr val="0F2B42"/>
                </a:solidFill>
              </a:rPr>
              <a:t> </a:t>
            </a:r>
            <a:r>
              <a:rPr lang="en-US" sz="4400" b="1" dirty="0" err="1" smtClean="0">
                <a:solidFill>
                  <a:srgbClr val="0F2B42"/>
                </a:solidFill>
              </a:rPr>
              <a:t>prácticos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834888" y="2720738"/>
            <a:ext cx="899885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es-ES" sz="2800" spc="247" dirty="0" smtClean="0">
                <a:solidFill>
                  <a:srgbClr val="0F2B42"/>
                </a:solidFill>
              </a:rPr>
              <a:t>Contenedor </a:t>
            </a:r>
            <a:r>
              <a:rPr lang="es-ES" sz="2800" spc="247" dirty="0" err="1" smtClean="0">
                <a:solidFill>
                  <a:srgbClr val="0F2B42"/>
                </a:solidFill>
              </a:rPr>
              <a:t>IoC</a:t>
            </a:r>
            <a:r>
              <a:rPr lang="es-ES" sz="2800" spc="247" dirty="0" smtClean="0">
                <a:solidFill>
                  <a:srgbClr val="0F2B42"/>
                </a:solidFill>
              </a:rPr>
              <a:t> e inyección de dependencia.</a:t>
            </a:r>
          </a:p>
          <a:p>
            <a:pPr marL="457200" indent="-457200">
              <a:buFontTx/>
              <a:buChar char="-"/>
            </a:pPr>
            <a:endParaRPr lang="es-ES" sz="2800" spc="247" dirty="0" smtClean="0">
              <a:solidFill>
                <a:srgbClr val="0F2B42"/>
              </a:solidFill>
            </a:endParaRPr>
          </a:p>
          <a:p>
            <a:pPr marL="457200" indent="-457200">
              <a:buFontTx/>
              <a:buChar char="-"/>
            </a:pPr>
            <a:r>
              <a:rPr lang="es-ES" sz="2800" spc="247" dirty="0" smtClean="0">
                <a:solidFill>
                  <a:srgbClr val="0F2B42"/>
                </a:solidFill>
              </a:rPr>
              <a:t>Desarrollo </a:t>
            </a:r>
            <a:r>
              <a:rPr lang="es-ES" sz="2800" spc="247" dirty="0" smtClean="0">
                <a:solidFill>
                  <a:srgbClr val="0F2B42"/>
                </a:solidFill>
              </a:rPr>
              <a:t>de </a:t>
            </a:r>
            <a:r>
              <a:rPr lang="es-ES" sz="2800" spc="247" dirty="0" smtClean="0">
                <a:solidFill>
                  <a:srgbClr val="0F2B42"/>
                </a:solidFill>
              </a:rPr>
              <a:t>un </a:t>
            </a:r>
            <a:r>
              <a:rPr lang="es-ES" sz="2800" spc="247" dirty="0" err="1" smtClean="0">
                <a:solidFill>
                  <a:srgbClr val="0F2B42"/>
                </a:solidFill>
              </a:rPr>
              <a:t>microservicio</a:t>
            </a:r>
            <a:r>
              <a:rPr lang="es-ES" sz="2800" spc="247" dirty="0" smtClean="0">
                <a:solidFill>
                  <a:srgbClr val="0F2B42"/>
                </a:solidFill>
              </a:rPr>
              <a:t> con Spring </a:t>
            </a:r>
            <a:r>
              <a:rPr lang="es-ES" sz="2800" spc="247" dirty="0" err="1" smtClean="0">
                <a:solidFill>
                  <a:srgbClr val="0F2B42"/>
                </a:solidFill>
              </a:rPr>
              <a:t>Boot</a:t>
            </a:r>
            <a:r>
              <a:rPr lang="es-ES" sz="2800" spc="247" dirty="0" smtClean="0">
                <a:solidFill>
                  <a:srgbClr val="0F2B42"/>
                </a:solidFill>
              </a:rPr>
              <a:t>.</a:t>
            </a:r>
            <a:endParaRPr lang="es-ES" sz="2800" spc="247" dirty="0" smtClean="0">
              <a:solidFill>
                <a:srgbClr val="0F2B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583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4068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s-CL" sz="1200"/>
          </a:p>
        </p:txBody>
      </p:sp>
      <p:grpSp>
        <p:nvGrpSpPr>
          <p:cNvPr id="3" name="Group 3"/>
          <p:cNvGrpSpPr/>
          <p:nvPr/>
        </p:nvGrpSpPr>
        <p:grpSpPr>
          <a:xfrm rot="826432">
            <a:off x="-12235403" y="-2378106"/>
            <a:ext cx="14017561" cy="8554614"/>
            <a:chOff x="0" y="0"/>
            <a:chExt cx="5537802" cy="337960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537802" cy="3379601"/>
            </a:xfrm>
            <a:custGeom>
              <a:avLst/>
              <a:gdLst/>
              <a:ahLst/>
              <a:cxnLst/>
              <a:rect l="l" t="t" r="r" b="b"/>
              <a:pathLst>
                <a:path w="5537802" h="3379601">
                  <a:moveTo>
                    <a:pt x="0" y="0"/>
                  </a:moveTo>
                  <a:lnTo>
                    <a:pt x="5537802" y="0"/>
                  </a:lnTo>
                  <a:lnTo>
                    <a:pt x="5537802" y="3379601"/>
                  </a:lnTo>
                  <a:lnTo>
                    <a:pt x="0" y="3379601"/>
                  </a:lnTo>
                  <a:lnTo>
                    <a:pt x="0" y="0"/>
                  </a:lnTo>
                </a:path>
              </a:pathLst>
            </a:custGeom>
            <a:solidFill>
              <a:srgbClr val="FABC1E"/>
            </a:solidFill>
          </p:spPr>
          <p:txBody>
            <a:bodyPr/>
            <a:lstStyle/>
            <a:p>
              <a:endParaRPr lang="es-CL" sz="120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06"/>
                </a:lnSpc>
              </a:pPr>
              <a:endParaRPr sz="1200"/>
            </a:p>
          </p:txBody>
        </p:sp>
      </p:grpSp>
      <p:grpSp>
        <p:nvGrpSpPr>
          <p:cNvPr id="6" name="Group 6"/>
          <p:cNvGrpSpPr/>
          <p:nvPr/>
        </p:nvGrpSpPr>
        <p:grpSpPr>
          <a:xfrm rot="773821">
            <a:off x="2494382" y="-3222675"/>
            <a:ext cx="209222" cy="5654899"/>
            <a:chOff x="0" y="0"/>
            <a:chExt cx="82656" cy="22340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2656" cy="2234034"/>
            </a:xfrm>
            <a:custGeom>
              <a:avLst/>
              <a:gdLst/>
              <a:ahLst/>
              <a:cxnLst/>
              <a:rect l="l" t="t" r="r" b="b"/>
              <a:pathLst>
                <a:path w="82656" h="2234034">
                  <a:moveTo>
                    <a:pt x="0" y="0"/>
                  </a:moveTo>
                  <a:lnTo>
                    <a:pt x="82656" y="0"/>
                  </a:lnTo>
                  <a:lnTo>
                    <a:pt x="82656" y="2234034"/>
                  </a:lnTo>
                  <a:lnTo>
                    <a:pt x="0" y="2234034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</p:spPr>
          <p:txBody>
            <a:bodyPr/>
            <a:lstStyle/>
            <a:p>
              <a:endParaRPr lang="es-CL" sz="120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06"/>
                </a:lnSpc>
              </a:pPr>
              <a:endParaRPr sz="1200"/>
            </a:p>
          </p:txBody>
        </p:sp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11C59FE3-4171-D317-1E9B-77B57CF1531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5817476" y="3139141"/>
            <a:ext cx="3287777" cy="110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60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1415</TotalTime>
  <Words>430</Words>
  <Application>Microsoft Office PowerPoint</Application>
  <PresentationFormat>Panorámica</PresentationFormat>
  <Paragraphs>106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Codec Pro ExtraBold Italics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Alonso</dc:creator>
  <cp:lastModifiedBy>Alonso</cp:lastModifiedBy>
  <cp:revision>131</cp:revision>
  <dcterms:created xsi:type="dcterms:W3CDTF">2025-05-16T02:49:00Z</dcterms:created>
  <dcterms:modified xsi:type="dcterms:W3CDTF">2026-03-16T20:48:40Z</dcterms:modified>
</cp:coreProperties>
</file>