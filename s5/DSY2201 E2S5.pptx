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2" r:id="rId3"/>
    <p:sldId id="324" r:id="rId4"/>
    <p:sldId id="343" r:id="rId5"/>
    <p:sldId id="344" r:id="rId6"/>
    <p:sldId id="346" r:id="rId7"/>
    <p:sldId id="347" r:id="rId8"/>
    <p:sldId id="345" r:id="rId9"/>
    <p:sldId id="348" r:id="rId10"/>
    <p:sldId id="323" r:id="rId11"/>
    <p:sldId id="3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6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1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5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6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4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2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4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9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3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4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4D160-7E9F-4B8C-A177-C5C36EB8DF2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6"/>
          <p:cNvSpPr/>
          <p:nvPr/>
        </p:nvSpPr>
        <p:spPr>
          <a:xfrm>
            <a:off x="10541665" y="5532883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7"/>
          <p:cNvGrpSpPr/>
          <p:nvPr/>
        </p:nvGrpSpPr>
        <p:grpSpPr>
          <a:xfrm>
            <a:off x="0" y="0"/>
            <a:ext cx="1684020" cy="6858000"/>
            <a:chOff x="0" y="0"/>
            <a:chExt cx="812800" cy="2976105"/>
          </a:xfrm>
        </p:grpSpPr>
        <p:sp>
          <p:nvSpPr>
            <p:cNvPr id="5" name="Freeform 8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2"/>
          <p:cNvGrpSpPr/>
          <p:nvPr/>
        </p:nvGrpSpPr>
        <p:grpSpPr>
          <a:xfrm>
            <a:off x="9090660" y="0"/>
            <a:ext cx="2161984" cy="6858000"/>
            <a:chOff x="0" y="0"/>
            <a:chExt cx="812800" cy="2976105"/>
          </a:xfrm>
        </p:grpSpPr>
        <p:sp>
          <p:nvSpPr>
            <p:cNvPr id="10" name="Freeform 3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Freeform 17"/>
          <p:cNvSpPr/>
          <p:nvPr/>
        </p:nvSpPr>
        <p:spPr>
          <a:xfrm>
            <a:off x="1489522" y="0"/>
            <a:ext cx="5636747" cy="1603247"/>
          </a:xfrm>
          <a:custGeom>
            <a:avLst/>
            <a:gdLst/>
            <a:ahLst/>
            <a:cxnLst/>
            <a:rect l="l" t="t" r="r" b="b"/>
            <a:pathLst>
              <a:path w="6851949" h="1948884">
                <a:moveTo>
                  <a:pt x="0" y="0"/>
                </a:moveTo>
                <a:lnTo>
                  <a:pt x="6851949" y="0"/>
                </a:lnTo>
                <a:lnTo>
                  <a:pt x="6851949" y="1948885"/>
                </a:lnTo>
                <a:lnTo>
                  <a:pt x="0" y="1948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8223" b="-7345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6"/>
          <p:cNvSpPr/>
          <p:nvPr/>
        </p:nvSpPr>
        <p:spPr>
          <a:xfrm>
            <a:off x="8173156" y="224790"/>
            <a:ext cx="3579164" cy="5890260"/>
          </a:xfrm>
          <a:custGeom>
            <a:avLst/>
            <a:gdLst/>
            <a:ahLst/>
            <a:cxnLst/>
            <a:rect l="l" t="t" r="r" b="b"/>
            <a:pathLst>
              <a:path w="5482971" h="9023371">
                <a:moveTo>
                  <a:pt x="0" y="0"/>
                </a:moveTo>
                <a:lnTo>
                  <a:pt x="5482971" y="0"/>
                </a:lnTo>
                <a:lnTo>
                  <a:pt x="5482971" y="9023371"/>
                </a:lnTo>
                <a:lnTo>
                  <a:pt x="0" y="902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813" r="-48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-737291" y="20170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7" name="Group 10"/>
          <p:cNvGrpSpPr/>
          <p:nvPr/>
        </p:nvGrpSpPr>
        <p:grpSpPr>
          <a:xfrm>
            <a:off x="1442608" y="2545079"/>
            <a:ext cx="93827" cy="2399371"/>
            <a:chOff x="0" y="0"/>
            <a:chExt cx="26312" cy="672855"/>
          </a:xfrm>
        </p:grpSpPr>
        <p:sp>
          <p:nvSpPr>
            <p:cNvPr id="18" name="Freeform 11"/>
            <p:cNvSpPr/>
            <p:nvPr/>
          </p:nvSpPr>
          <p:spPr>
            <a:xfrm>
              <a:off x="0" y="0"/>
              <a:ext cx="26312" cy="672855"/>
            </a:xfrm>
            <a:custGeom>
              <a:avLst/>
              <a:gdLst/>
              <a:ahLst/>
              <a:cxnLst/>
              <a:rect l="l" t="t" r="r" b="b"/>
              <a:pathLst>
                <a:path w="26312" h="672855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775459" y="2922931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>
                <a:solidFill>
                  <a:srgbClr val="0F2B42"/>
                </a:solidFill>
              </a:rPr>
              <a:t>Sesión Sincrónica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950719" y="4065051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 err="1" smtClean="0">
                <a:solidFill>
                  <a:srgbClr val="0F2B42"/>
                </a:solidFill>
              </a:rPr>
              <a:t>Semana</a:t>
            </a:r>
            <a:r>
              <a:rPr lang="en-US" sz="6600" b="1" smtClean="0">
                <a:solidFill>
                  <a:srgbClr val="0F2B42"/>
                </a:solidFill>
              </a:rPr>
              <a:t> 5</a:t>
            </a:r>
            <a:endParaRPr lang="en-US" sz="6600" b="1" dirty="0">
              <a:solidFill>
                <a:srgbClr val="0F2B42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5E01895-7A45-CE11-EF16-8D8944724F71}"/>
              </a:ext>
            </a:extLst>
          </p:cNvPr>
          <p:cNvSpPr txBox="1"/>
          <p:nvPr/>
        </p:nvSpPr>
        <p:spPr>
          <a:xfrm>
            <a:off x="1811019" y="5730329"/>
            <a:ext cx="4836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Alonso Castillo</a:t>
            </a:r>
          </a:p>
          <a:p>
            <a:r>
              <a:rPr lang="es-ES" sz="2000" dirty="0"/>
              <a:t>Docente Campus Virtual Duoc UC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428236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6"/>
          <p:cNvSpPr/>
          <p:nvPr/>
        </p:nvSpPr>
        <p:spPr>
          <a:xfrm>
            <a:off x="10541665" y="5532883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7"/>
          <p:cNvGrpSpPr/>
          <p:nvPr/>
        </p:nvGrpSpPr>
        <p:grpSpPr>
          <a:xfrm>
            <a:off x="0" y="0"/>
            <a:ext cx="1684020" cy="6858000"/>
            <a:chOff x="0" y="0"/>
            <a:chExt cx="812800" cy="2976105"/>
          </a:xfrm>
        </p:grpSpPr>
        <p:sp>
          <p:nvSpPr>
            <p:cNvPr id="5" name="Freeform 8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737291" y="20170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2070099" y="333150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 err="1" smtClean="0">
                <a:solidFill>
                  <a:srgbClr val="0F2B42"/>
                </a:solidFill>
              </a:rPr>
              <a:t>Contenido</a:t>
            </a:r>
            <a:endParaRPr lang="en-US" sz="6600" b="1" dirty="0">
              <a:solidFill>
                <a:srgbClr val="0F2B42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0C67E4-59E2-78AC-A459-6423EB186E7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9304020" y="156152"/>
            <a:ext cx="2604654" cy="872936"/>
          </a:xfrm>
          <a:prstGeom prst="rect">
            <a:avLst/>
          </a:prstGeom>
        </p:spPr>
      </p:pic>
      <p:grpSp>
        <p:nvGrpSpPr>
          <p:cNvPr id="25" name="Group 2"/>
          <p:cNvGrpSpPr/>
          <p:nvPr/>
        </p:nvGrpSpPr>
        <p:grpSpPr>
          <a:xfrm>
            <a:off x="1902350" y="2006127"/>
            <a:ext cx="1278348" cy="1966784"/>
            <a:chOff x="0" y="0"/>
            <a:chExt cx="368852" cy="1198943"/>
          </a:xfrm>
        </p:grpSpPr>
        <p:sp>
          <p:nvSpPr>
            <p:cNvPr id="26" name="Freeform 3"/>
            <p:cNvSpPr/>
            <p:nvPr/>
          </p:nvSpPr>
          <p:spPr>
            <a:xfrm>
              <a:off x="0" y="0"/>
              <a:ext cx="368852" cy="1198943"/>
            </a:xfrm>
            <a:custGeom>
              <a:avLst/>
              <a:gdLst/>
              <a:ahLst/>
              <a:cxnLst/>
              <a:rect l="l" t="t" r="r" b="b"/>
              <a:pathLst>
                <a:path w="368852" h="1198943">
                  <a:moveTo>
                    <a:pt x="0" y="0"/>
                  </a:moveTo>
                  <a:lnTo>
                    <a:pt x="368852" y="0"/>
                  </a:lnTo>
                  <a:lnTo>
                    <a:pt x="368852" y="1198943"/>
                  </a:lnTo>
                  <a:lnTo>
                    <a:pt x="0" y="1198943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14"/>
          <p:cNvSpPr txBox="1"/>
          <p:nvPr/>
        </p:nvSpPr>
        <p:spPr>
          <a:xfrm>
            <a:off x="2072914" y="2324039"/>
            <a:ext cx="93721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>
                <a:solidFill>
                  <a:srgbClr val="FBBC1E"/>
                </a:solidFill>
                <a:latin typeface="Codec Pro ExtraBold Italics"/>
              </a:rPr>
              <a:t>01</a:t>
            </a:r>
          </a:p>
        </p:txBody>
      </p:sp>
      <p:sp>
        <p:nvSpPr>
          <p:cNvPr id="29" name="TextBox 15"/>
          <p:cNvSpPr txBox="1"/>
          <p:nvPr/>
        </p:nvSpPr>
        <p:spPr>
          <a:xfrm>
            <a:off x="2072914" y="3089626"/>
            <a:ext cx="93721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>
                <a:solidFill>
                  <a:srgbClr val="FBBC1E"/>
                </a:solidFill>
                <a:latin typeface="Codec Pro ExtraBold Italics"/>
              </a:rPr>
              <a:t>02</a:t>
            </a:r>
          </a:p>
        </p:txBody>
      </p:sp>
      <p:sp>
        <p:nvSpPr>
          <p:cNvPr id="30" name="TextBox 19"/>
          <p:cNvSpPr txBox="1"/>
          <p:nvPr/>
        </p:nvSpPr>
        <p:spPr>
          <a:xfrm>
            <a:off x="3351262" y="2402284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>
                <a:solidFill>
                  <a:srgbClr val="0F2B42"/>
                </a:solidFill>
              </a:rPr>
              <a:t>Temáticas clave de la semana</a:t>
            </a:r>
            <a:endParaRPr lang="en-US" sz="2524" spc="247" dirty="0">
              <a:solidFill>
                <a:srgbClr val="0F2B42"/>
              </a:solidFill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3351261" y="3217948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 smtClean="0">
                <a:solidFill>
                  <a:srgbClr val="0F2B42"/>
                </a:solidFill>
              </a:rPr>
              <a:t>Ejemplos prácticos</a:t>
            </a:r>
            <a:endParaRPr lang="en-US" sz="2524" spc="247" dirty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77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481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CREATE (POST).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crear un nuevo registro en la base de </a:t>
            </a:r>
            <a:r>
              <a:rPr lang="es-ES" sz="2000" spc="247" dirty="0" smtClean="0">
                <a:solidFill>
                  <a:srgbClr val="0F2B42"/>
                </a:solidFill>
              </a:rPr>
              <a:t>datos.</a:t>
            </a: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utiliza el verbo HTTP </a:t>
            </a:r>
            <a:r>
              <a:rPr lang="es-ES" sz="2000" spc="247" dirty="0" smtClean="0">
                <a:solidFill>
                  <a:srgbClr val="0F2B42"/>
                </a:solidFill>
              </a:rPr>
              <a:t>POST.</a:t>
            </a: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Recibe </a:t>
            </a:r>
            <a:r>
              <a:rPr lang="es-ES" sz="2000" spc="247" dirty="0">
                <a:solidFill>
                  <a:srgbClr val="0F2B42"/>
                </a:solidFill>
              </a:rPr>
              <a:t>datos desde el </a:t>
            </a:r>
            <a:r>
              <a:rPr lang="es-ES" sz="2000" spc="247" dirty="0" err="1">
                <a:solidFill>
                  <a:srgbClr val="0F2B42"/>
                </a:solidFill>
              </a:rPr>
              <a:t>RequestBody</a:t>
            </a:r>
            <a:r>
              <a:rPr lang="es-ES" sz="2000" spc="247" dirty="0">
                <a:solidFill>
                  <a:srgbClr val="0F2B42"/>
                </a:solidFill>
              </a:rPr>
              <a:t> (JSON</a:t>
            </a:r>
            <a:r>
              <a:rPr lang="es-ES" sz="2000" spc="247" dirty="0" smtClean="0">
                <a:solidFill>
                  <a:srgbClr val="0F2B42"/>
                </a:solidFill>
              </a:rPr>
              <a:t>).</a:t>
            </a: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valida la información antes de guardar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Flujo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Cliente </a:t>
            </a:r>
            <a:r>
              <a:rPr lang="es-ES" sz="2000" spc="247" dirty="0">
                <a:solidFill>
                  <a:srgbClr val="0F2B42"/>
                </a:solidFill>
              </a:rPr>
              <a:t>envía datos </a:t>
            </a:r>
            <a:r>
              <a:rPr lang="es-ES" sz="2000" spc="247" dirty="0" smtClean="0">
                <a:solidFill>
                  <a:srgbClr val="0F2B42"/>
                </a:solidFill>
              </a:rPr>
              <a:t>a Controller en un @</a:t>
            </a:r>
            <a:r>
              <a:rPr lang="es-ES" sz="2000" spc="247" dirty="0" err="1" smtClean="0">
                <a:solidFill>
                  <a:srgbClr val="0F2B42"/>
                </a:solidFill>
              </a:rPr>
              <a:t>RequestBody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Controller </a:t>
            </a:r>
            <a:r>
              <a:rPr lang="es-ES" sz="2000" spc="247" dirty="0">
                <a:solidFill>
                  <a:srgbClr val="0F2B42"/>
                </a:solidFill>
              </a:rPr>
              <a:t>valida (@</a:t>
            </a:r>
            <a:r>
              <a:rPr lang="es-ES" sz="2000" spc="247" dirty="0" err="1">
                <a:solidFill>
                  <a:srgbClr val="0F2B42"/>
                </a:solidFill>
              </a:rPr>
              <a:t>Valid</a:t>
            </a:r>
            <a:r>
              <a:rPr lang="es-ES" sz="2000" spc="247" dirty="0" smtClean="0">
                <a:solidFill>
                  <a:srgbClr val="0F2B42"/>
                </a:solidFill>
              </a:rPr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Service </a:t>
            </a:r>
            <a:r>
              <a:rPr lang="es-ES" sz="2000" spc="247" dirty="0">
                <a:solidFill>
                  <a:srgbClr val="0F2B42"/>
                </a:solidFill>
              </a:rPr>
              <a:t>transforma DTO </a:t>
            </a:r>
            <a:r>
              <a:rPr lang="es-ES" sz="2000" spc="247" dirty="0" smtClean="0">
                <a:solidFill>
                  <a:srgbClr val="0F2B42"/>
                </a:solidFill>
              </a:rPr>
              <a:t>a </a:t>
            </a:r>
            <a:r>
              <a:rPr lang="es-ES" sz="2000" spc="247" dirty="0" err="1" smtClean="0">
                <a:solidFill>
                  <a:srgbClr val="0F2B42"/>
                </a:solidFill>
              </a:rPr>
              <a:t>Entity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Repository</a:t>
            </a:r>
            <a:r>
              <a:rPr lang="es-ES" sz="2000" spc="247" dirty="0" smtClean="0">
                <a:solidFill>
                  <a:srgbClr val="0F2B42"/>
                </a:solidFill>
              </a:rPr>
              <a:t> </a:t>
            </a:r>
            <a:r>
              <a:rPr lang="es-ES" sz="2000" spc="247" dirty="0">
                <a:solidFill>
                  <a:srgbClr val="0F2B42"/>
                </a:solidFill>
              </a:rPr>
              <a:t>guarda (</a:t>
            </a:r>
            <a:r>
              <a:rPr lang="es-ES" sz="2000" spc="247" dirty="0" err="1">
                <a:solidFill>
                  <a:srgbClr val="0F2B42"/>
                </a:solidFill>
              </a:rPr>
              <a:t>save</a:t>
            </a:r>
            <a:r>
              <a:rPr lang="es-ES" sz="2000" spc="247" dirty="0" smtClean="0">
                <a:solidFill>
                  <a:srgbClr val="0F2B42"/>
                </a:solidFill>
              </a:rPr>
              <a:t>()).</a:t>
            </a:r>
          </a:p>
        </p:txBody>
      </p:sp>
    </p:spTree>
    <p:extLst>
      <p:ext uri="{BB962C8B-B14F-4D97-AF65-F5344CB8AC3E}">
        <p14:creationId xmlns:p14="http://schemas.microsoft.com/office/powerpoint/2010/main" val="263902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78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UPDATE (PUT</a:t>
            </a:r>
            <a:r>
              <a:rPr lang="es-ES" sz="2524" spc="247" dirty="0" smtClean="0">
                <a:solidFill>
                  <a:srgbClr val="0F2B42"/>
                </a:solidFill>
              </a:rPr>
              <a:t>).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actualizar un registro </a:t>
            </a:r>
            <a:r>
              <a:rPr lang="es-ES" sz="2000" spc="247" dirty="0" smtClean="0">
                <a:solidFill>
                  <a:srgbClr val="0F2B42"/>
                </a:solidFill>
              </a:rPr>
              <a:t>existente.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utiliza el verbo HTTP </a:t>
            </a:r>
            <a:r>
              <a:rPr lang="es-ES" sz="2000" spc="247" dirty="0" smtClean="0">
                <a:solidFill>
                  <a:srgbClr val="0F2B42"/>
                </a:solidFill>
              </a:rPr>
              <a:t>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Requiere </a:t>
            </a:r>
            <a:r>
              <a:rPr lang="es-ES" sz="2000" spc="247" dirty="0">
                <a:solidFill>
                  <a:srgbClr val="0F2B42"/>
                </a:solidFill>
              </a:rPr>
              <a:t>identificar el recurso (ID</a:t>
            </a:r>
            <a:r>
              <a:rPr lang="es-ES" sz="2000" spc="247" dirty="0" smtClean="0">
                <a:solidFill>
                  <a:srgbClr val="0F2B42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Usa </a:t>
            </a:r>
            <a:r>
              <a:rPr lang="es-ES" sz="2000" spc="247" dirty="0" err="1">
                <a:solidFill>
                  <a:srgbClr val="0F2B42"/>
                </a:solidFill>
              </a:rPr>
              <a:t>save</a:t>
            </a:r>
            <a:r>
              <a:rPr lang="es-ES" sz="2000" spc="247" dirty="0">
                <a:solidFill>
                  <a:srgbClr val="0F2B42"/>
                </a:solidFill>
              </a:rPr>
              <a:t>() después de modificar.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Flujo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Cliente envía datos a Controller en un @</a:t>
            </a:r>
            <a:r>
              <a:rPr lang="es-ES" sz="2000" spc="247" dirty="0" err="1" smtClean="0">
                <a:solidFill>
                  <a:srgbClr val="0F2B42"/>
                </a:solidFill>
              </a:rPr>
              <a:t>RequestBody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Controller valida (@</a:t>
            </a:r>
            <a:r>
              <a:rPr lang="es-ES" sz="2000" spc="247" dirty="0" err="1">
                <a:solidFill>
                  <a:srgbClr val="0F2B42"/>
                </a:solidFill>
              </a:rPr>
              <a:t>Valid</a:t>
            </a:r>
            <a:r>
              <a:rPr lang="es-ES" sz="2000" spc="247" dirty="0" smtClean="0">
                <a:solidFill>
                  <a:srgbClr val="0F2B42"/>
                </a:solidFill>
              </a:rPr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Service transforma DTO a </a:t>
            </a:r>
            <a:r>
              <a:rPr lang="es-ES" sz="2000" spc="247" dirty="0" err="1" smtClean="0">
                <a:solidFill>
                  <a:srgbClr val="0F2B42"/>
                </a:solidFill>
              </a:rPr>
              <a:t>Entity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Buscar </a:t>
            </a:r>
            <a:r>
              <a:rPr lang="es-ES" sz="2000" spc="247" dirty="0">
                <a:solidFill>
                  <a:srgbClr val="0F2B42"/>
                </a:solidFill>
              </a:rPr>
              <a:t>entidad (</a:t>
            </a:r>
            <a:r>
              <a:rPr lang="es-ES" sz="2000" spc="247" dirty="0" err="1">
                <a:solidFill>
                  <a:srgbClr val="0F2B42"/>
                </a:solidFill>
              </a:rPr>
              <a:t>findById</a:t>
            </a:r>
            <a:r>
              <a:rPr lang="es-ES" sz="2000" spc="247" dirty="0" smtClean="0">
                <a:solidFill>
                  <a:srgbClr val="0F2B42"/>
                </a:solidFill>
              </a:rPr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Si </a:t>
            </a:r>
            <a:r>
              <a:rPr lang="es-ES" sz="2000" spc="247" dirty="0">
                <a:solidFill>
                  <a:srgbClr val="0F2B42"/>
                </a:solidFill>
              </a:rPr>
              <a:t>no existe </a:t>
            </a:r>
            <a:r>
              <a:rPr lang="es-ES" sz="2000" spc="247" dirty="0" smtClean="0">
                <a:solidFill>
                  <a:srgbClr val="0F2B42"/>
                </a:solidFill>
              </a:rPr>
              <a:t>devolvemos 404.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Actualizar campos.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Guardar </a:t>
            </a:r>
            <a:r>
              <a:rPr lang="es-ES" sz="2000" spc="247" dirty="0">
                <a:solidFill>
                  <a:srgbClr val="0F2B42"/>
                </a:solidFill>
              </a:rPr>
              <a:t>(</a:t>
            </a:r>
            <a:r>
              <a:rPr lang="es-ES" sz="2000" spc="247" dirty="0" err="1">
                <a:solidFill>
                  <a:srgbClr val="0F2B42"/>
                </a:solidFill>
              </a:rPr>
              <a:t>save</a:t>
            </a:r>
            <a:r>
              <a:rPr lang="es-ES" sz="2000" spc="247" dirty="0">
                <a:solidFill>
                  <a:srgbClr val="0F2B42"/>
                </a:solidFill>
              </a:rPr>
              <a:t>()).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10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174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DELETE (eliminación física).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eliminar un registro de la base de </a:t>
            </a:r>
            <a:r>
              <a:rPr lang="es-ES" sz="2000" spc="247" dirty="0" smtClean="0">
                <a:solidFill>
                  <a:srgbClr val="0F2B42"/>
                </a:solidFill>
              </a:rPr>
              <a:t>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utiliza el verbo HTTP </a:t>
            </a:r>
            <a:r>
              <a:rPr lang="es-ES" sz="2000" spc="247" dirty="0" smtClean="0">
                <a:solidFill>
                  <a:srgbClr val="0F2B42"/>
                </a:solidFill>
              </a:rPr>
              <a:t>DELETE.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identifica el recurso por ID.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Flujo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Cliente envía </a:t>
            </a:r>
            <a:r>
              <a:rPr lang="es-ES" sz="2000" spc="247" dirty="0" smtClean="0">
                <a:solidFill>
                  <a:srgbClr val="0F2B42"/>
                </a:solidFill>
              </a:rPr>
              <a:t>ID </a:t>
            </a:r>
            <a:r>
              <a:rPr lang="es-ES" sz="2000" spc="247" dirty="0">
                <a:solidFill>
                  <a:srgbClr val="0F2B42"/>
                </a:solidFill>
              </a:rPr>
              <a:t>como @</a:t>
            </a:r>
            <a:r>
              <a:rPr lang="es-ES" sz="2000" spc="247" dirty="0" err="1">
                <a:solidFill>
                  <a:srgbClr val="0F2B42"/>
                </a:solidFill>
              </a:rPr>
              <a:t>PathVariable</a:t>
            </a:r>
            <a:r>
              <a:rPr lang="es-ES" sz="2000" spc="247" dirty="0">
                <a:solidFill>
                  <a:srgbClr val="0F2B42"/>
                </a:solidFill>
              </a:rPr>
              <a:t>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Verificar existencia (</a:t>
            </a:r>
            <a:r>
              <a:rPr lang="es-ES" sz="2000" spc="247" dirty="0" err="1">
                <a:solidFill>
                  <a:srgbClr val="0F2B42"/>
                </a:solidFill>
              </a:rPr>
              <a:t>findById</a:t>
            </a:r>
            <a:r>
              <a:rPr lang="es-ES" sz="2000" spc="247" dirty="0">
                <a:solidFill>
                  <a:srgbClr val="0F2B42"/>
                </a:solidFill>
              </a:rPr>
              <a:t>).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Si </a:t>
            </a:r>
            <a:r>
              <a:rPr lang="es-ES" sz="2000" spc="247" dirty="0">
                <a:solidFill>
                  <a:srgbClr val="0F2B42"/>
                </a:solidFill>
              </a:rPr>
              <a:t>no existe </a:t>
            </a:r>
            <a:r>
              <a:rPr lang="es-ES" sz="2000" spc="247" dirty="0" smtClean="0">
                <a:solidFill>
                  <a:srgbClr val="0F2B42"/>
                </a:solidFill>
              </a:rPr>
              <a:t>devolvemos 404.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Eliminar (deleteById).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No </a:t>
            </a:r>
            <a:r>
              <a:rPr lang="es-ES" sz="2000" spc="247" dirty="0" smtClean="0">
                <a:solidFill>
                  <a:srgbClr val="0F2B42"/>
                </a:solidFill>
              </a:rPr>
              <a:t>retornar contenido.</a:t>
            </a:r>
          </a:p>
        </p:txBody>
      </p:sp>
    </p:spTree>
    <p:extLst>
      <p:ext uri="{BB962C8B-B14F-4D97-AF65-F5344CB8AC3E}">
        <p14:creationId xmlns:p14="http://schemas.microsoft.com/office/powerpoint/2010/main" val="399124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78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DELETE (eliminación lógica).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utiliza el verbo HTTP </a:t>
            </a:r>
            <a:r>
              <a:rPr lang="es-ES" sz="2000" spc="247" dirty="0" smtClean="0">
                <a:solidFill>
                  <a:srgbClr val="0F2B42"/>
                </a:solidFill>
              </a:rPr>
              <a:t>DELETE.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identifica el recurso por </a:t>
            </a:r>
            <a:r>
              <a:rPr lang="es-ES" sz="2000" spc="247" dirty="0" smtClean="0">
                <a:solidFill>
                  <a:srgbClr val="0F2B42"/>
                </a:solidFill>
              </a:rPr>
              <a:t>ID.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El registro se </a:t>
            </a:r>
            <a:r>
              <a:rPr lang="es-ES" sz="2000" spc="247" dirty="0">
                <a:solidFill>
                  <a:srgbClr val="0F2B42"/>
                </a:solidFill>
              </a:rPr>
              <a:t>marca como </a:t>
            </a:r>
            <a:r>
              <a:rPr lang="es-ES" sz="2000" spc="247" dirty="0" smtClean="0">
                <a:solidFill>
                  <a:srgbClr val="0F2B42"/>
                </a:solidFill>
              </a:rPr>
              <a:t>inactivo en columna booleana.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El </a:t>
            </a:r>
            <a:r>
              <a:rPr lang="es-ES" sz="2000" spc="247" dirty="0">
                <a:solidFill>
                  <a:srgbClr val="0F2B42"/>
                </a:solidFill>
              </a:rPr>
              <a:t>dato sigue existiendo en la base de datos.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Flujo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Cliente envía </a:t>
            </a:r>
            <a:r>
              <a:rPr lang="es-ES" sz="2000" spc="247" dirty="0" smtClean="0">
                <a:solidFill>
                  <a:srgbClr val="0F2B42"/>
                </a:solidFill>
              </a:rPr>
              <a:t>ID </a:t>
            </a:r>
            <a:r>
              <a:rPr lang="es-ES" sz="2000" spc="247" dirty="0">
                <a:solidFill>
                  <a:srgbClr val="0F2B42"/>
                </a:solidFill>
              </a:rPr>
              <a:t>como @</a:t>
            </a:r>
            <a:r>
              <a:rPr lang="es-ES" sz="2000" spc="247" dirty="0" err="1">
                <a:solidFill>
                  <a:srgbClr val="0F2B42"/>
                </a:solidFill>
              </a:rPr>
              <a:t>PathVariable</a:t>
            </a:r>
            <a:r>
              <a:rPr lang="es-ES" sz="2000" spc="247" dirty="0">
                <a:solidFill>
                  <a:srgbClr val="0F2B42"/>
                </a:solidFill>
              </a:rPr>
              <a:t>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Verificar existencia (</a:t>
            </a:r>
            <a:r>
              <a:rPr lang="es-ES" sz="2000" spc="247" dirty="0" err="1">
                <a:solidFill>
                  <a:srgbClr val="0F2B42"/>
                </a:solidFill>
              </a:rPr>
              <a:t>findById</a:t>
            </a:r>
            <a:r>
              <a:rPr lang="es-ES" sz="2000" spc="247" dirty="0">
                <a:solidFill>
                  <a:srgbClr val="0F2B42"/>
                </a:solidFill>
              </a:rPr>
              <a:t>).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Si </a:t>
            </a:r>
            <a:r>
              <a:rPr lang="es-ES" sz="2000" spc="247" dirty="0">
                <a:solidFill>
                  <a:srgbClr val="0F2B42"/>
                </a:solidFill>
              </a:rPr>
              <a:t>no existe </a:t>
            </a:r>
            <a:r>
              <a:rPr lang="es-ES" sz="2000" spc="247" dirty="0" smtClean="0">
                <a:solidFill>
                  <a:srgbClr val="0F2B42"/>
                </a:solidFill>
              </a:rPr>
              <a:t>devolvemos 404.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cambia el booleano estado a 0.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Actualizar </a:t>
            </a:r>
            <a:r>
              <a:rPr lang="es-ES" sz="2000" spc="247" dirty="0">
                <a:solidFill>
                  <a:srgbClr val="0F2B42"/>
                </a:solidFill>
              </a:rPr>
              <a:t>campo (</a:t>
            </a:r>
            <a:r>
              <a:rPr lang="es-ES" sz="2000" spc="247" dirty="0" err="1" smtClean="0">
                <a:solidFill>
                  <a:srgbClr val="0F2B42"/>
                </a:solidFill>
              </a:rPr>
              <a:t>save</a:t>
            </a:r>
            <a:r>
              <a:rPr lang="es-ES" sz="2000" spc="247" dirty="0" smtClean="0">
                <a:solidFill>
                  <a:srgbClr val="0F2B42"/>
                </a:solidFill>
              </a:rPr>
              <a:t>()).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No </a:t>
            </a:r>
            <a:r>
              <a:rPr lang="es-ES" sz="2000" spc="247" dirty="0" smtClean="0">
                <a:solidFill>
                  <a:srgbClr val="0F2B42"/>
                </a:solidFill>
              </a:rPr>
              <a:t>retornar contenido.</a:t>
            </a:r>
          </a:p>
        </p:txBody>
      </p:sp>
    </p:spTree>
    <p:extLst>
      <p:ext uri="{BB962C8B-B14F-4D97-AF65-F5344CB8AC3E}">
        <p14:creationId xmlns:p14="http://schemas.microsoft.com/office/powerpoint/2010/main" val="347867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78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Cuándo usar cada uno.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Eliminación física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Datos temporales.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No </a:t>
            </a:r>
            <a:r>
              <a:rPr lang="es-ES" sz="2000" spc="247" dirty="0">
                <a:solidFill>
                  <a:srgbClr val="0F2B42"/>
                </a:solidFill>
              </a:rPr>
              <a:t>se requiere </a:t>
            </a:r>
            <a:r>
              <a:rPr lang="es-ES" sz="2000" spc="247" dirty="0" smtClean="0">
                <a:solidFill>
                  <a:srgbClr val="0F2B42"/>
                </a:solidFill>
              </a:rPr>
              <a:t>historial.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No </a:t>
            </a:r>
            <a:r>
              <a:rPr lang="es-ES" sz="2000" spc="247" dirty="0">
                <a:solidFill>
                  <a:srgbClr val="0F2B42"/>
                </a:solidFill>
              </a:rPr>
              <a:t>hay impacto legal o de </a:t>
            </a:r>
            <a:r>
              <a:rPr lang="es-ES" sz="2000" spc="247" dirty="0" smtClean="0">
                <a:solidFill>
                  <a:srgbClr val="0F2B42"/>
                </a:solidFill>
              </a:rPr>
              <a:t>negocio.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Ej</a:t>
            </a:r>
            <a:r>
              <a:rPr lang="es-ES" sz="2000" spc="247" dirty="0">
                <a:solidFill>
                  <a:srgbClr val="0F2B42"/>
                </a:solidFill>
              </a:rPr>
              <a:t>: logs, datos de </a:t>
            </a:r>
            <a:r>
              <a:rPr lang="es-ES" sz="2000" spc="247" dirty="0" smtClean="0">
                <a:solidFill>
                  <a:srgbClr val="0F2B42"/>
                </a:solidFill>
              </a:rPr>
              <a:t>prueba.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Eliminación lógica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necesita </a:t>
            </a:r>
            <a:r>
              <a:rPr lang="es-ES" sz="2000" spc="247" dirty="0" smtClean="0">
                <a:solidFill>
                  <a:srgbClr val="0F2B42"/>
                </a:solidFill>
              </a:rPr>
              <a:t>trazabilidad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requiere </a:t>
            </a:r>
            <a:r>
              <a:rPr lang="es-ES" sz="2000" spc="247" dirty="0" smtClean="0">
                <a:solidFill>
                  <a:srgbClr val="0F2B42"/>
                </a:solidFill>
              </a:rPr>
              <a:t>auditoría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Posibilidad </a:t>
            </a:r>
            <a:r>
              <a:rPr lang="es-ES" sz="2000" spc="247" dirty="0">
                <a:solidFill>
                  <a:srgbClr val="0F2B42"/>
                </a:solidFill>
              </a:rPr>
              <a:t>de recuperar </a:t>
            </a:r>
            <a:r>
              <a:rPr lang="es-ES" sz="2000" spc="247" dirty="0" smtClean="0">
                <a:solidFill>
                  <a:srgbClr val="0F2B42"/>
                </a:solidFill>
              </a:rPr>
              <a:t>datos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Reglas </a:t>
            </a:r>
            <a:r>
              <a:rPr lang="es-ES" sz="2000" spc="247" dirty="0">
                <a:solidFill>
                  <a:srgbClr val="0F2B42"/>
                </a:solidFill>
              </a:rPr>
              <a:t>de negocio </a:t>
            </a:r>
            <a:r>
              <a:rPr lang="es-ES" sz="2000" spc="247" dirty="0" smtClean="0">
                <a:solidFill>
                  <a:srgbClr val="0F2B42"/>
                </a:solidFill>
              </a:rPr>
              <a:t>importantes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Ej</a:t>
            </a:r>
            <a:r>
              <a:rPr lang="es-ES" sz="2000" spc="247" dirty="0">
                <a:solidFill>
                  <a:srgbClr val="0F2B42"/>
                </a:solidFill>
              </a:rPr>
              <a:t>: usuarios, órdenes, pagos.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34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8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Respuestas HTTP en CRUD</a:t>
            </a:r>
            <a:r>
              <a:rPr lang="es-ES" sz="2524" spc="247" dirty="0" smtClean="0">
                <a:solidFill>
                  <a:srgbClr val="0F2B42"/>
                </a:solidFill>
              </a:rPr>
              <a:t>.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111550"/>
              </p:ext>
            </p:extLst>
          </p:nvPr>
        </p:nvGraphicFramePr>
        <p:xfrm>
          <a:off x="1300654" y="2741841"/>
          <a:ext cx="8001002" cy="2849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38788">
                  <a:extLst>
                    <a:ext uri="{9D8B030D-6E8A-4147-A177-3AD203B41FA5}">
                      <a16:colId xmlns:a16="http://schemas.microsoft.com/office/drawing/2014/main" val="1627304588"/>
                    </a:ext>
                  </a:extLst>
                </a:gridCol>
                <a:gridCol w="1193887">
                  <a:extLst>
                    <a:ext uri="{9D8B030D-6E8A-4147-A177-3AD203B41FA5}">
                      <a16:colId xmlns:a16="http://schemas.microsoft.com/office/drawing/2014/main" val="2588048587"/>
                    </a:ext>
                  </a:extLst>
                </a:gridCol>
                <a:gridCol w="5968327">
                  <a:extLst>
                    <a:ext uri="{9D8B030D-6E8A-4147-A177-3AD203B41FA5}">
                      <a16:colId xmlns:a16="http://schemas.microsoft.com/office/drawing/2014/main" val="2980079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/>
                        <a:t>Código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Nombre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/>
                        <a:t>¿Cuándo usarlo?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828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1600" b="1" dirty="0"/>
                        <a:t>200</a:t>
                      </a:r>
                      <a:endParaRPr lang="es-C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Cuando </a:t>
                      </a:r>
                      <a:r>
                        <a:rPr lang="es-ES" sz="1600" dirty="0"/>
                        <a:t>la operación fue exitosa y se devuelve información (GET, PUT)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826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1600" b="1"/>
                        <a:t>201</a:t>
                      </a:r>
                      <a:endParaRPr lang="es-CL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600"/>
                        <a:t>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Cuando </a:t>
                      </a:r>
                      <a:r>
                        <a:rPr lang="es-ES" sz="1600" dirty="0"/>
                        <a:t>se crea un recurso correctamente (POST)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64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1600" b="1"/>
                        <a:t>204</a:t>
                      </a:r>
                      <a:endParaRPr lang="es-CL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600"/>
                        <a:t>No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Cuando </a:t>
                      </a:r>
                      <a:r>
                        <a:rPr lang="es-ES" sz="1600" dirty="0"/>
                        <a:t>la operación fue exitosa pero no hay contenido que devolver (DELETE)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927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1600" b="1"/>
                        <a:t>400</a:t>
                      </a:r>
                      <a:endParaRPr lang="es-CL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600"/>
                        <a:t>Bad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Cuando </a:t>
                      </a:r>
                      <a:r>
                        <a:rPr lang="es-ES" sz="1600" dirty="0"/>
                        <a:t>el request es inválido (datos mal formados, validaciones fallidas en POST o PUT)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905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sz="1600" b="1"/>
                        <a:t>404</a:t>
                      </a:r>
                      <a:endParaRPr lang="es-CL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600"/>
                        <a:t>Not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Cuando </a:t>
                      </a:r>
                      <a:r>
                        <a:rPr lang="es-ES" sz="1600" dirty="0"/>
                        <a:t>el recurso solicitado no existe (GET, PUT o DELETE con ID inexistente)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14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81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5097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>
                <a:solidFill>
                  <a:srgbClr val="0F2B42"/>
                </a:solidFill>
              </a:rPr>
              <a:t>Métodos derivados por nombre.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Son </a:t>
            </a:r>
            <a:r>
              <a:rPr lang="es-ES" sz="2000" spc="247" dirty="0">
                <a:solidFill>
                  <a:srgbClr val="0F2B42"/>
                </a:solidFill>
              </a:rPr>
              <a:t>métodos que Spring Data JPA genera </a:t>
            </a:r>
            <a:r>
              <a:rPr lang="es-ES" sz="2000" spc="247" dirty="0" smtClean="0">
                <a:solidFill>
                  <a:srgbClr val="0F2B42"/>
                </a:solidFill>
              </a:rPr>
              <a:t>automáticamente.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No </a:t>
            </a:r>
            <a:r>
              <a:rPr lang="es-ES" sz="2000" spc="247" dirty="0">
                <a:solidFill>
                  <a:srgbClr val="0F2B42"/>
                </a:solidFill>
              </a:rPr>
              <a:t>necesitas escribir </a:t>
            </a:r>
            <a:r>
              <a:rPr lang="es-ES" sz="2000" spc="247" dirty="0" smtClean="0">
                <a:solidFill>
                  <a:srgbClr val="0F2B42"/>
                </a:solidFill>
              </a:rPr>
              <a:t>SQL.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El </a:t>
            </a:r>
            <a:r>
              <a:rPr lang="es-ES" sz="2000" spc="247" dirty="0">
                <a:solidFill>
                  <a:srgbClr val="0F2B42"/>
                </a:solidFill>
              </a:rPr>
              <a:t>comportamiento se define por el nombre del </a:t>
            </a:r>
            <a:r>
              <a:rPr lang="es-ES" sz="2000" spc="247" dirty="0" smtClean="0">
                <a:solidFill>
                  <a:srgbClr val="0F2B42"/>
                </a:solidFill>
              </a:rPr>
              <a:t>método.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utilizan dentro del </a:t>
            </a:r>
            <a:r>
              <a:rPr lang="es-ES" sz="2000" spc="247" dirty="0" err="1">
                <a:solidFill>
                  <a:srgbClr val="0F2B42"/>
                </a:solidFill>
              </a:rPr>
              <a:t>Repository</a:t>
            </a:r>
            <a:r>
              <a:rPr lang="es-ES" sz="2000" spc="247" dirty="0">
                <a:solidFill>
                  <a:srgbClr val="0F2B42"/>
                </a:solidFill>
              </a:rPr>
              <a:t>.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r>
              <a:rPr lang="es-ES" sz="2000" spc="247" dirty="0">
                <a:solidFill>
                  <a:srgbClr val="0F2B42"/>
                </a:solidFill>
              </a:rPr>
              <a:t>Spring interpreta el nombre del método siguiendo patrones</a:t>
            </a:r>
            <a:r>
              <a:rPr lang="es-ES" sz="2000" spc="247" dirty="0" smtClean="0">
                <a:solidFill>
                  <a:srgbClr val="0F2B42"/>
                </a:solidFill>
              </a:rPr>
              <a:t>:</a:t>
            </a: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err="1">
                <a:solidFill>
                  <a:srgbClr val="0F2B42"/>
                </a:solidFill>
              </a:rPr>
              <a:t>find</a:t>
            </a:r>
            <a:r>
              <a:rPr lang="es-ES" sz="2000" spc="247" dirty="0">
                <a:solidFill>
                  <a:srgbClr val="0F2B42"/>
                </a:solidFill>
              </a:rPr>
              <a:t> + By + Campo + </a:t>
            </a:r>
            <a:r>
              <a:rPr lang="es-ES" sz="2000" spc="247" dirty="0" smtClean="0">
                <a:solidFill>
                  <a:srgbClr val="0F2B42"/>
                </a:solidFill>
              </a:rPr>
              <a:t>Condición</a:t>
            </a: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Ejemplos: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findByNombre</a:t>
            </a:r>
            <a:r>
              <a:rPr lang="es-ES" sz="2000" spc="247" dirty="0">
                <a:solidFill>
                  <a:srgbClr val="0F2B42"/>
                </a:solidFill>
              </a:rPr>
              <a:t>:</a:t>
            </a:r>
            <a:r>
              <a:rPr lang="es-ES" sz="2000" spc="247" dirty="0" smtClean="0">
                <a:solidFill>
                  <a:srgbClr val="0F2B42"/>
                </a:solidFill>
              </a:rPr>
              <a:t> </a:t>
            </a:r>
            <a:r>
              <a:rPr lang="es-ES" sz="2000" spc="247" dirty="0">
                <a:solidFill>
                  <a:srgbClr val="0F2B42"/>
                </a:solidFill>
              </a:rPr>
              <a:t>busca por </a:t>
            </a:r>
            <a:r>
              <a:rPr lang="es-ES" sz="2000" spc="247" dirty="0" smtClean="0">
                <a:solidFill>
                  <a:srgbClr val="0F2B42"/>
                </a:solidFill>
              </a:rPr>
              <a:t>nombre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findByEmail</a:t>
            </a:r>
            <a:r>
              <a:rPr lang="es-ES" sz="2000" spc="247" dirty="0">
                <a:solidFill>
                  <a:srgbClr val="0F2B42"/>
                </a:solidFill>
              </a:rPr>
              <a:t>:</a:t>
            </a:r>
            <a:r>
              <a:rPr lang="es-ES" sz="2000" spc="247" dirty="0" smtClean="0">
                <a:solidFill>
                  <a:srgbClr val="0F2B42"/>
                </a:solidFill>
              </a:rPr>
              <a:t> </a:t>
            </a:r>
            <a:r>
              <a:rPr lang="es-ES" sz="2000" spc="247" dirty="0">
                <a:solidFill>
                  <a:srgbClr val="0F2B42"/>
                </a:solidFill>
              </a:rPr>
              <a:t>busca por </a:t>
            </a:r>
            <a:r>
              <a:rPr lang="es-ES" sz="2000" spc="247" dirty="0" smtClean="0">
                <a:solidFill>
                  <a:srgbClr val="0F2B42"/>
                </a:solidFill>
              </a:rPr>
              <a:t>email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findByEdadGreaterThan</a:t>
            </a:r>
            <a:r>
              <a:rPr lang="es-ES" sz="2000" spc="247" dirty="0">
                <a:solidFill>
                  <a:srgbClr val="0F2B42"/>
                </a:solidFill>
              </a:rPr>
              <a:t>:</a:t>
            </a:r>
            <a:r>
              <a:rPr lang="es-ES" sz="2000" spc="247" dirty="0" smtClean="0">
                <a:solidFill>
                  <a:srgbClr val="0F2B42"/>
                </a:solidFill>
              </a:rPr>
              <a:t> </a:t>
            </a:r>
            <a:r>
              <a:rPr lang="es-ES" sz="2000" spc="247" dirty="0">
                <a:solidFill>
                  <a:srgbClr val="0F2B42"/>
                </a:solidFill>
              </a:rPr>
              <a:t>edad mayor a</a:t>
            </a:r>
          </a:p>
        </p:txBody>
      </p:sp>
    </p:spTree>
    <p:extLst>
      <p:ext uri="{BB962C8B-B14F-4D97-AF65-F5344CB8AC3E}">
        <p14:creationId xmlns:p14="http://schemas.microsoft.com/office/powerpoint/2010/main" val="89405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951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Ejemplos</a:t>
            </a:r>
            <a:r>
              <a:rPr lang="en-US" sz="4400" b="1" dirty="0" smtClean="0">
                <a:solidFill>
                  <a:srgbClr val="0F2B42"/>
                </a:solidFill>
              </a:rPr>
              <a:t> </a:t>
            </a:r>
            <a:r>
              <a:rPr lang="en-US" sz="4400" b="1" dirty="0" err="1" smtClean="0">
                <a:solidFill>
                  <a:srgbClr val="0F2B42"/>
                </a:solidFill>
              </a:rPr>
              <a:t>prácticos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834888" y="2720738"/>
            <a:ext cx="8998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s-ES" sz="2800" spc="247" dirty="0" smtClean="0">
                <a:solidFill>
                  <a:srgbClr val="0F2B42"/>
                </a:solidFill>
              </a:rPr>
              <a:t>Desarrollo de microservicios.</a:t>
            </a:r>
          </a:p>
        </p:txBody>
      </p:sp>
    </p:spTree>
    <p:extLst>
      <p:ext uri="{BB962C8B-B14F-4D97-AF65-F5344CB8AC3E}">
        <p14:creationId xmlns:p14="http://schemas.microsoft.com/office/powerpoint/2010/main" val="266458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4068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s-CL" sz="1200"/>
          </a:p>
        </p:txBody>
      </p:sp>
      <p:grpSp>
        <p:nvGrpSpPr>
          <p:cNvPr id="3" name="Group 3"/>
          <p:cNvGrpSpPr/>
          <p:nvPr/>
        </p:nvGrpSpPr>
        <p:grpSpPr>
          <a:xfrm rot="826432">
            <a:off x="-12235403" y="-2378106"/>
            <a:ext cx="14017561" cy="8554614"/>
            <a:chOff x="0" y="0"/>
            <a:chExt cx="5537802" cy="33796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37802" cy="3379601"/>
            </a:xfrm>
            <a:custGeom>
              <a:avLst/>
              <a:gdLst/>
              <a:ahLst/>
              <a:cxnLst/>
              <a:rect l="l" t="t" r="r" b="b"/>
              <a:pathLst>
                <a:path w="5537802" h="3379601">
                  <a:moveTo>
                    <a:pt x="0" y="0"/>
                  </a:moveTo>
                  <a:lnTo>
                    <a:pt x="5537802" y="0"/>
                  </a:lnTo>
                  <a:lnTo>
                    <a:pt x="5537802" y="3379601"/>
                  </a:lnTo>
                  <a:lnTo>
                    <a:pt x="0" y="3379601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 rot="773821">
            <a:off x="2494382" y="-3222675"/>
            <a:ext cx="209222" cy="5654899"/>
            <a:chOff x="0" y="0"/>
            <a:chExt cx="82656" cy="22340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656" cy="2234034"/>
            </a:xfrm>
            <a:custGeom>
              <a:avLst/>
              <a:gdLst/>
              <a:ahLst/>
              <a:cxnLst/>
              <a:rect l="l" t="t" r="r" b="b"/>
              <a:pathLst>
                <a:path w="82656" h="2234034">
                  <a:moveTo>
                    <a:pt x="0" y="0"/>
                  </a:moveTo>
                  <a:lnTo>
                    <a:pt x="82656" y="0"/>
                  </a:lnTo>
                  <a:lnTo>
                    <a:pt x="82656" y="2234034"/>
                  </a:lnTo>
                  <a:lnTo>
                    <a:pt x="0" y="2234034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11C59FE3-4171-D317-1E9B-77B57CF153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5817476" y="3139141"/>
            <a:ext cx="3287777" cy="11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0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</TotalTime>
  <Words>547</Words>
  <Application>Microsoft Office PowerPoint</Application>
  <PresentationFormat>Panorámica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Codec Pro ExtraBold Italics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Alonso</dc:creator>
  <cp:lastModifiedBy>Alonso</cp:lastModifiedBy>
  <cp:revision>174</cp:revision>
  <dcterms:created xsi:type="dcterms:W3CDTF">2025-05-16T02:49:00Z</dcterms:created>
  <dcterms:modified xsi:type="dcterms:W3CDTF">2026-04-07T22:22:54Z</dcterms:modified>
</cp:coreProperties>
</file>